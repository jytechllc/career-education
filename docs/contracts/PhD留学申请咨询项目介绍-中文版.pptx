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4480560"/>
            <a:ext cx="9144000" cy="45720"/>
          </a:xfrm>
          <a:prstGeom prst="rect">
            <a:avLst/>
          </a:prstGeom>
          <a:solidFill>
            <a:srgbClr val="D8AF71"/>
          </a:solidFill>
          <a:ln/>
        </p:spPr>
      </p:sp>
      <p:sp>
        <p:nvSpPr>
          <p:cNvPr id="3" name="Text 1"/>
          <p:cNvSpPr/>
          <p:nvPr/>
        </p:nvSpPr>
        <p:spPr>
          <a:xfrm>
            <a:off x="457200" y="1371600"/>
            <a:ext cx="8229600" cy="64008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从背景画像</a:t>
            </a:r>
            <a:endParaRPr lang="en-US" sz="4000" dirty="0"/>
          </a:p>
        </p:txBody>
      </p:sp>
      <p:sp>
        <p:nvSpPr>
          <p:cNvPr id="4" name="Text 2"/>
          <p:cNvSpPr/>
          <p:nvPr/>
        </p:nvSpPr>
        <p:spPr>
          <a:xfrm>
            <a:off x="457200" y="2011680"/>
            <a:ext cx="8229600" cy="457200"/>
          </a:xfrm>
          <a:prstGeom prst="rect">
            <a:avLst/>
          </a:prstGeom>
          <a:noFill/>
          <a:ln/>
        </p:spPr>
        <p:txBody>
          <a:bodyPr wrap="square" rtlCol="0" anchor="ctr"/>
          <a:lstStyle/>
          <a:p>
            <a:pPr algn="ctr" indent="0" marL="0">
              <a:buNone/>
            </a:pPr>
            <a:r>
              <a:rPr lang="en-US" sz="2800" dirty="0">
                <a:solidFill>
                  <a:srgbClr val="D8AF71"/>
                </a:solidFill>
                <a:latin typeface="Microsoft YaHei" pitchFamily="34" charset="0"/>
                <a:ea typeface="Microsoft YaHei" pitchFamily="34" charset="-122"/>
                <a:cs typeface="Microsoft YaHei" pitchFamily="34" charset="-120"/>
              </a:rPr>
              <a:t>到</a:t>
            </a:r>
            <a:endParaRPr lang="en-US" sz="2800" dirty="0"/>
          </a:p>
        </p:txBody>
      </p:sp>
      <p:sp>
        <p:nvSpPr>
          <p:cNvPr id="5" name="Text 3"/>
          <p:cNvSpPr/>
          <p:nvPr/>
        </p:nvSpPr>
        <p:spPr>
          <a:xfrm>
            <a:off x="457200" y="2514600"/>
            <a:ext cx="8229600" cy="640080"/>
          </a:xfrm>
          <a:prstGeom prst="rect">
            <a:avLst/>
          </a:prstGeom>
          <a:noFill/>
          <a:ln/>
        </p:spPr>
        <p:txBody>
          <a:bodyPr wrap="square" rtlCol="0" anchor="ctr"/>
          <a:lstStyle/>
          <a:p>
            <a:pPr algn="ctr" indent="0" marL="0">
              <a:buNone/>
            </a:pPr>
            <a:r>
              <a:rPr lang="en-US" sz="4000" b="1" dirty="0">
                <a:solidFill>
                  <a:srgbClr val="FFFFFF"/>
                </a:solidFill>
                <a:latin typeface="Microsoft YaHei" pitchFamily="34" charset="0"/>
                <a:ea typeface="Microsoft YaHei" pitchFamily="34" charset="-122"/>
                <a:cs typeface="Microsoft YaHei" pitchFamily="34" charset="-120"/>
              </a:rPr>
              <a:t>全额资助博士录取</a:t>
            </a:r>
            <a:endParaRPr lang="en-US" sz="4000" dirty="0"/>
          </a:p>
        </p:txBody>
      </p:sp>
      <p:sp>
        <p:nvSpPr>
          <p:cNvPr id="6" name="Text 4"/>
          <p:cNvSpPr/>
          <p:nvPr/>
        </p:nvSpPr>
        <p:spPr>
          <a:xfrm>
            <a:off x="457200" y="3291840"/>
            <a:ext cx="8229600" cy="365760"/>
          </a:xfrm>
          <a:prstGeom prst="rect">
            <a:avLst/>
          </a:prstGeom>
          <a:noFill/>
          <a:ln/>
        </p:spPr>
        <p:txBody>
          <a:bodyPr wrap="square" rtlCol="0" anchor="ctr"/>
          <a:lstStyle/>
          <a:p>
            <a:pPr algn="ctr" indent="0" marL="0">
              <a:buNone/>
            </a:pPr>
            <a:r>
              <a:rPr lang="en-US" sz="1600" dirty="0">
                <a:solidFill>
                  <a:srgbClr val="E8CFA0"/>
                </a:solidFill>
                <a:latin typeface="Microsoft YaHei" pitchFamily="34" charset="0"/>
                <a:ea typeface="Microsoft YaHei" pitchFamily="34" charset="-122"/>
                <a:cs typeface="Microsoft YaHei" pitchFamily="34" charset="-120"/>
              </a:rPr>
              <a:t>PhD 留学申请咨询项目介绍</a:t>
            </a:r>
            <a:endParaRPr lang="en-US" sz="1600" dirty="0"/>
          </a:p>
        </p:txBody>
      </p:sp>
      <p:sp>
        <p:nvSpPr>
          <p:cNvPr id="7" name="Text 5"/>
          <p:cNvSpPr/>
          <p:nvPr/>
        </p:nvSpPr>
        <p:spPr>
          <a:xfrm>
            <a:off x="7589520" y="4892040"/>
            <a:ext cx="1371600" cy="228600"/>
          </a:xfrm>
          <a:prstGeom prst="rect">
            <a:avLst/>
          </a:prstGeom>
          <a:noFill/>
          <a:ln/>
        </p:spPr>
        <p:txBody>
          <a:bodyPr wrap="square" rtlCol="0" anchor="ctr"/>
          <a:lstStyle/>
          <a:p>
            <a:pPr algn="r" indent="0" marL="0">
              <a:buNone/>
            </a:pPr>
            <a:r>
              <a:rPr lang="en-US" sz="800" dirty="0">
                <a:solidFill>
                  <a:srgbClr val="8A857F"/>
                </a:solidFill>
              </a:rPr>
              <a:t>内容由 AI 生成</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E2C2A"/>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algn="ctr" indent="0" marL="0">
              <a:buNone/>
            </a:pPr>
            <a:r>
              <a:rPr lang="en-US" sz="2800" dirty="0">
                <a:solidFill>
                  <a:srgbClr val="FFFFFF"/>
                </a:solidFill>
                <a:latin typeface="Microsoft YaHei" pitchFamily="34" charset="0"/>
                <a:ea typeface="Microsoft YaHei" pitchFamily="34" charset="-122"/>
                <a:cs typeface="Microsoft YaHei" pitchFamily="34" charset="-120"/>
              </a:rPr>
              <a:t>目录</a:t>
            </a:r>
            <a:endParaRPr lang="en-US" sz="2800" dirty="0"/>
          </a:p>
        </p:txBody>
      </p:sp>
      <p:sp>
        <p:nvSpPr>
          <p:cNvPr id="3" name="Text 1"/>
          <p:cNvSpPr/>
          <p:nvPr/>
        </p:nvSpPr>
        <p:spPr>
          <a:xfrm>
            <a:off x="822960" y="1600200"/>
            <a:ext cx="1005840" cy="502920"/>
          </a:xfrm>
          <a:prstGeom prst="rect">
            <a:avLst/>
          </a:prstGeom>
          <a:noFill/>
          <a:ln/>
        </p:spPr>
        <p:txBody>
          <a:bodyPr wrap="square" rtlCol="0" anchor="ctr"/>
          <a:lstStyle/>
          <a:p>
            <a:pPr indent="0" marL="0">
              <a:buNone/>
            </a:pPr>
            <a:r>
              <a:rPr lang="en-US" sz="3000" b="1" dirty="0">
                <a:solidFill>
                  <a:srgbClr val="D8AF71"/>
                </a:solidFill>
                <a:latin typeface="Microsoft YaHei" pitchFamily="34" charset="0"/>
                <a:ea typeface="Microsoft YaHei" pitchFamily="34" charset="-122"/>
                <a:cs typeface="Microsoft YaHei" pitchFamily="34" charset="-120"/>
              </a:rPr>
              <a:t>01</a:t>
            </a:r>
            <a:endParaRPr lang="en-US" sz="3000" dirty="0"/>
          </a:p>
        </p:txBody>
      </p:sp>
      <p:sp>
        <p:nvSpPr>
          <p:cNvPr id="4" name="Text 2"/>
          <p:cNvSpPr/>
          <p:nvPr/>
        </p:nvSpPr>
        <p:spPr>
          <a:xfrm>
            <a:off x="822960" y="2130552"/>
            <a:ext cx="1005840" cy="274320"/>
          </a:xfrm>
          <a:prstGeom prst="rect">
            <a:avLst/>
          </a:prstGeom>
          <a:noFill/>
          <a:ln/>
        </p:spPr>
        <p:txBody>
          <a:bodyPr wrap="square" rtlCol="0" anchor="ctr"/>
          <a:lstStyle/>
          <a:p>
            <a:pPr algn="ctr" indent="0" marL="0">
              <a:buNone/>
            </a:pPr>
            <a:r>
              <a:rPr lang="en-US" sz="900" dirty="0">
                <a:solidFill>
                  <a:srgbClr val="D8AF71"/>
                </a:solidFill>
              </a:rPr>
              <a:t>PART</a:t>
            </a:r>
            <a:endParaRPr lang="en-US" sz="900" dirty="0"/>
          </a:p>
        </p:txBody>
      </p:sp>
      <p:sp>
        <p:nvSpPr>
          <p:cNvPr id="5" name="Shape 3"/>
          <p:cNvSpPr/>
          <p:nvPr/>
        </p:nvSpPr>
        <p:spPr>
          <a:xfrm>
            <a:off x="822960" y="2130552"/>
            <a:ext cx="914400" cy="256032"/>
          </a:xfrm>
          <a:prstGeom prst="rect">
            <a:avLst/>
          </a:prstGeom>
          <a:solidFill>
            <a:srgbClr val="2E2C2A"/>
          </a:solidFill>
          <a:ln w="9525">
            <a:solidFill>
              <a:srgbClr val="D8AF71"/>
            </a:solidFill>
            <a:prstDash val="solid"/>
          </a:ln>
        </p:spPr>
      </p:sp>
      <p:sp>
        <p:nvSpPr>
          <p:cNvPr id="6" name="Text 4"/>
          <p:cNvSpPr/>
          <p:nvPr/>
        </p:nvSpPr>
        <p:spPr>
          <a:xfrm>
            <a:off x="822960" y="2130552"/>
            <a:ext cx="914400" cy="256032"/>
          </a:xfrm>
          <a:prstGeom prst="rect">
            <a:avLst/>
          </a:prstGeom>
          <a:noFill/>
          <a:ln/>
        </p:spPr>
        <p:txBody>
          <a:bodyPr wrap="square" lIns="0" tIns="0" rIns="0" bIns="0" rtlCol="0" anchor="ctr"/>
          <a:lstStyle/>
          <a:p>
            <a:pPr algn="ctr" indent="0" marL="0">
              <a:buNone/>
            </a:pPr>
            <a:r>
              <a:rPr lang="en-US" sz="900" dirty="0">
                <a:solidFill>
                  <a:srgbClr val="D8AF71"/>
                </a:solidFill>
              </a:rPr>
              <a:t>PART</a:t>
            </a:r>
            <a:endParaRPr lang="en-US" sz="900" dirty="0"/>
          </a:p>
        </p:txBody>
      </p:sp>
      <p:sp>
        <p:nvSpPr>
          <p:cNvPr id="7" name="Text 5"/>
          <p:cNvSpPr/>
          <p:nvPr/>
        </p:nvSpPr>
        <p:spPr>
          <a:xfrm>
            <a:off x="1965960" y="1645920"/>
            <a:ext cx="2926080" cy="82296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明确正确的研究方向</a:t>
            </a:r>
            <a:endParaRPr lang="en-US" sz="1700" dirty="0"/>
          </a:p>
        </p:txBody>
      </p:sp>
      <p:sp>
        <p:nvSpPr>
          <p:cNvPr id="8" name="Text 6"/>
          <p:cNvSpPr/>
          <p:nvPr/>
        </p:nvSpPr>
        <p:spPr>
          <a:xfrm>
            <a:off x="4937760" y="1600200"/>
            <a:ext cx="1005840" cy="502920"/>
          </a:xfrm>
          <a:prstGeom prst="rect">
            <a:avLst/>
          </a:prstGeom>
          <a:noFill/>
          <a:ln/>
        </p:spPr>
        <p:txBody>
          <a:bodyPr wrap="square" rtlCol="0" anchor="ctr"/>
          <a:lstStyle/>
          <a:p>
            <a:pPr indent="0" marL="0">
              <a:buNone/>
            </a:pPr>
            <a:r>
              <a:rPr lang="en-US" sz="3000" b="1" dirty="0">
                <a:solidFill>
                  <a:srgbClr val="D8AF71"/>
                </a:solidFill>
                <a:latin typeface="Microsoft YaHei" pitchFamily="34" charset="0"/>
                <a:ea typeface="Microsoft YaHei" pitchFamily="34" charset="-122"/>
                <a:cs typeface="Microsoft YaHei" pitchFamily="34" charset="-120"/>
              </a:rPr>
              <a:t>02</a:t>
            </a:r>
            <a:endParaRPr lang="en-US" sz="3000" dirty="0"/>
          </a:p>
        </p:txBody>
      </p:sp>
      <p:sp>
        <p:nvSpPr>
          <p:cNvPr id="9" name="Text 7"/>
          <p:cNvSpPr/>
          <p:nvPr/>
        </p:nvSpPr>
        <p:spPr>
          <a:xfrm>
            <a:off x="4937760" y="2130552"/>
            <a:ext cx="1005840" cy="274320"/>
          </a:xfrm>
          <a:prstGeom prst="rect">
            <a:avLst/>
          </a:prstGeom>
          <a:noFill/>
          <a:ln/>
        </p:spPr>
        <p:txBody>
          <a:bodyPr wrap="square" rtlCol="0" anchor="ctr"/>
          <a:lstStyle/>
          <a:p>
            <a:pPr algn="ctr" indent="0" marL="0">
              <a:buNone/>
            </a:pPr>
            <a:r>
              <a:rPr lang="en-US" sz="900" dirty="0">
                <a:solidFill>
                  <a:srgbClr val="D8AF71"/>
                </a:solidFill>
              </a:rPr>
              <a:t>PART</a:t>
            </a:r>
            <a:endParaRPr lang="en-US" sz="900" dirty="0"/>
          </a:p>
        </p:txBody>
      </p:sp>
      <p:sp>
        <p:nvSpPr>
          <p:cNvPr id="10" name="Shape 8"/>
          <p:cNvSpPr/>
          <p:nvPr/>
        </p:nvSpPr>
        <p:spPr>
          <a:xfrm>
            <a:off x="4937760" y="2130552"/>
            <a:ext cx="914400" cy="256032"/>
          </a:xfrm>
          <a:prstGeom prst="rect">
            <a:avLst/>
          </a:prstGeom>
          <a:solidFill>
            <a:srgbClr val="2E2C2A"/>
          </a:solidFill>
          <a:ln w="9525">
            <a:solidFill>
              <a:srgbClr val="D8AF71"/>
            </a:solidFill>
            <a:prstDash val="solid"/>
          </a:ln>
        </p:spPr>
      </p:sp>
      <p:sp>
        <p:nvSpPr>
          <p:cNvPr id="11" name="Text 9"/>
          <p:cNvSpPr/>
          <p:nvPr/>
        </p:nvSpPr>
        <p:spPr>
          <a:xfrm>
            <a:off x="4937760" y="2130552"/>
            <a:ext cx="914400" cy="256032"/>
          </a:xfrm>
          <a:prstGeom prst="rect">
            <a:avLst/>
          </a:prstGeom>
          <a:noFill/>
          <a:ln/>
        </p:spPr>
        <p:txBody>
          <a:bodyPr wrap="square" lIns="0" tIns="0" rIns="0" bIns="0" rtlCol="0" anchor="ctr"/>
          <a:lstStyle/>
          <a:p>
            <a:pPr algn="ctr" indent="0" marL="0">
              <a:buNone/>
            </a:pPr>
            <a:r>
              <a:rPr lang="en-US" sz="900" dirty="0">
                <a:solidFill>
                  <a:srgbClr val="D8AF71"/>
                </a:solidFill>
              </a:rPr>
              <a:t>PART</a:t>
            </a:r>
            <a:endParaRPr lang="en-US" sz="900" dirty="0"/>
          </a:p>
        </p:txBody>
      </p:sp>
      <p:sp>
        <p:nvSpPr>
          <p:cNvPr id="12" name="Text 10"/>
          <p:cNvSpPr/>
          <p:nvPr/>
        </p:nvSpPr>
        <p:spPr>
          <a:xfrm>
            <a:off x="6080760" y="1645920"/>
            <a:ext cx="2926080" cy="82296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打造有竞争力的申请档案</a:t>
            </a:r>
            <a:endParaRPr lang="en-US" sz="1700" dirty="0"/>
          </a:p>
        </p:txBody>
      </p:sp>
      <p:sp>
        <p:nvSpPr>
          <p:cNvPr id="13" name="Text 11"/>
          <p:cNvSpPr/>
          <p:nvPr/>
        </p:nvSpPr>
        <p:spPr>
          <a:xfrm>
            <a:off x="822960" y="3246120"/>
            <a:ext cx="1005840" cy="502920"/>
          </a:xfrm>
          <a:prstGeom prst="rect">
            <a:avLst/>
          </a:prstGeom>
          <a:noFill/>
          <a:ln/>
        </p:spPr>
        <p:txBody>
          <a:bodyPr wrap="square" rtlCol="0" anchor="ctr"/>
          <a:lstStyle/>
          <a:p>
            <a:pPr indent="0" marL="0">
              <a:buNone/>
            </a:pPr>
            <a:r>
              <a:rPr lang="en-US" sz="3000" b="1" dirty="0">
                <a:solidFill>
                  <a:srgbClr val="D8AF71"/>
                </a:solidFill>
                <a:latin typeface="Microsoft YaHei" pitchFamily="34" charset="0"/>
                <a:ea typeface="Microsoft YaHei" pitchFamily="34" charset="-122"/>
                <a:cs typeface="Microsoft YaHei" pitchFamily="34" charset="-120"/>
              </a:rPr>
              <a:t>03</a:t>
            </a:r>
            <a:endParaRPr lang="en-US" sz="3000" dirty="0"/>
          </a:p>
        </p:txBody>
      </p:sp>
      <p:sp>
        <p:nvSpPr>
          <p:cNvPr id="14" name="Text 12"/>
          <p:cNvSpPr/>
          <p:nvPr/>
        </p:nvSpPr>
        <p:spPr>
          <a:xfrm>
            <a:off x="822960" y="3776472"/>
            <a:ext cx="1005840" cy="274320"/>
          </a:xfrm>
          <a:prstGeom prst="rect">
            <a:avLst/>
          </a:prstGeom>
          <a:noFill/>
          <a:ln/>
        </p:spPr>
        <p:txBody>
          <a:bodyPr wrap="square" rtlCol="0" anchor="ctr"/>
          <a:lstStyle/>
          <a:p>
            <a:pPr algn="ctr" indent="0" marL="0">
              <a:buNone/>
            </a:pPr>
            <a:r>
              <a:rPr lang="en-US" sz="900" dirty="0">
                <a:solidFill>
                  <a:srgbClr val="D8AF71"/>
                </a:solidFill>
              </a:rPr>
              <a:t>PART</a:t>
            </a:r>
            <a:endParaRPr lang="en-US" sz="900" dirty="0"/>
          </a:p>
        </p:txBody>
      </p:sp>
      <p:sp>
        <p:nvSpPr>
          <p:cNvPr id="15" name="Shape 13"/>
          <p:cNvSpPr/>
          <p:nvPr/>
        </p:nvSpPr>
        <p:spPr>
          <a:xfrm>
            <a:off x="822960" y="3776472"/>
            <a:ext cx="914400" cy="256032"/>
          </a:xfrm>
          <a:prstGeom prst="rect">
            <a:avLst/>
          </a:prstGeom>
          <a:solidFill>
            <a:srgbClr val="2E2C2A"/>
          </a:solidFill>
          <a:ln w="9525">
            <a:solidFill>
              <a:srgbClr val="D8AF71"/>
            </a:solidFill>
            <a:prstDash val="solid"/>
          </a:ln>
        </p:spPr>
      </p:sp>
      <p:sp>
        <p:nvSpPr>
          <p:cNvPr id="16" name="Text 14"/>
          <p:cNvSpPr/>
          <p:nvPr/>
        </p:nvSpPr>
        <p:spPr>
          <a:xfrm>
            <a:off x="822960" y="3776472"/>
            <a:ext cx="914400" cy="256032"/>
          </a:xfrm>
          <a:prstGeom prst="rect">
            <a:avLst/>
          </a:prstGeom>
          <a:noFill/>
          <a:ln/>
        </p:spPr>
        <p:txBody>
          <a:bodyPr wrap="square" lIns="0" tIns="0" rIns="0" bIns="0" rtlCol="0" anchor="ctr"/>
          <a:lstStyle/>
          <a:p>
            <a:pPr algn="ctr" indent="0" marL="0">
              <a:buNone/>
            </a:pPr>
            <a:r>
              <a:rPr lang="en-US" sz="900" dirty="0">
                <a:solidFill>
                  <a:srgbClr val="D8AF71"/>
                </a:solidFill>
              </a:rPr>
              <a:t>PART</a:t>
            </a:r>
            <a:endParaRPr lang="en-US" sz="900" dirty="0"/>
          </a:p>
        </p:txBody>
      </p:sp>
      <p:sp>
        <p:nvSpPr>
          <p:cNvPr id="17" name="Text 15"/>
          <p:cNvSpPr/>
          <p:nvPr/>
        </p:nvSpPr>
        <p:spPr>
          <a:xfrm>
            <a:off x="1965960" y="3291840"/>
            <a:ext cx="2926080" cy="82296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全程支持完成申请</a:t>
            </a:r>
            <a:endParaRPr lang="en-US" sz="1700" dirty="0"/>
          </a:p>
        </p:txBody>
      </p:sp>
      <p:sp>
        <p:nvSpPr>
          <p:cNvPr id="18" name="Text 16"/>
          <p:cNvSpPr/>
          <p:nvPr/>
        </p:nvSpPr>
        <p:spPr>
          <a:xfrm>
            <a:off x="4937760" y="3246120"/>
            <a:ext cx="1005840" cy="502920"/>
          </a:xfrm>
          <a:prstGeom prst="rect">
            <a:avLst/>
          </a:prstGeom>
          <a:noFill/>
          <a:ln/>
        </p:spPr>
        <p:txBody>
          <a:bodyPr wrap="square" rtlCol="0" anchor="ctr"/>
          <a:lstStyle/>
          <a:p>
            <a:pPr indent="0" marL="0">
              <a:buNone/>
            </a:pPr>
            <a:r>
              <a:rPr lang="en-US" sz="3000" b="1" dirty="0">
                <a:solidFill>
                  <a:srgbClr val="D8AF71"/>
                </a:solidFill>
                <a:latin typeface="Microsoft YaHei" pitchFamily="34" charset="0"/>
                <a:ea typeface="Microsoft YaHei" pitchFamily="34" charset="-122"/>
                <a:cs typeface="Microsoft YaHei" pitchFamily="34" charset="-120"/>
              </a:rPr>
              <a:t>04</a:t>
            </a:r>
            <a:endParaRPr lang="en-US" sz="3000" dirty="0"/>
          </a:p>
        </p:txBody>
      </p:sp>
      <p:sp>
        <p:nvSpPr>
          <p:cNvPr id="19" name="Text 17"/>
          <p:cNvSpPr/>
          <p:nvPr/>
        </p:nvSpPr>
        <p:spPr>
          <a:xfrm>
            <a:off x="4937760" y="3776472"/>
            <a:ext cx="1005840" cy="274320"/>
          </a:xfrm>
          <a:prstGeom prst="rect">
            <a:avLst/>
          </a:prstGeom>
          <a:noFill/>
          <a:ln/>
        </p:spPr>
        <p:txBody>
          <a:bodyPr wrap="square" rtlCol="0" anchor="ctr"/>
          <a:lstStyle/>
          <a:p>
            <a:pPr algn="ctr" indent="0" marL="0">
              <a:buNone/>
            </a:pPr>
            <a:r>
              <a:rPr lang="en-US" sz="900" dirty="0">
                <a:solidFill>
                  <a:srgbClr val="D8AF71"/>
                </a:solidFill>
              </a:rPr>
              <a:t>PART</a:t>
            </a:r>
            <a:endParaRPr lang="en-US" sz="900" dirty="0"/>
          </a:p>
        </p:txBody>
      </p:sp>
      <p:sp>
        <p:nvSpPr>
          <p:cNvPr id="20" name="Shape 18"/>
          <p:cNvSpPr/>
          <p:nvPr/>
        </p:nvSpPr>
        <p:spPr>
          <a:xfrm>
            <a:off x="4937760" y="3776472"/>
            <a:ext cx="914400" cy="256032"/>
          </a:xfrm>
          <a:prstGeom prst="rect">
            <a:avLst/>
          </a:prstGeom>
          <a:solidFill>
            <a:srgbClr val="2E2C2A"/>
          </a:solidFill>
          <a:ln w="9525">
            <a:solidFill>
              <a:srgbClr val="D8AF71"/>
            </a:solidFill>
            <a:prstDash val="solid"/>
          </a:ln>
        </p:spPr>
      </p:sp>
      <p:sp>
        <p:nvSpPr>
          <p:cNvPr id="21" name="Text 19"/>
          <p:cNvSpPr/>
          <p:nvPr/>
        </p:nvSpPr>
        <p:spPr>
          <a:xfrm>
            <a:off x="4937760" y="3776472"/>
            <a:ext cx="914400" cy="256032"/>
          </a:xfrm>
          <a:prstGeom prst="rect">
            <a:avLst/>
          </a:prstGeom>
          <a:noFill/>
          <a:ln/>
        </p:spPr>
        <p:txBody>
          <a:bodyPr wrap="square" lIns="0" tIns="0" rIns="0" bIns="0" rtlCol="0" anchor="ctr"/>
          <a:lstStyle/>
          <a:p>
            <a:pPr algn="ctr" indent="0" marL="0">
              <a:buNone/>
            </a:pPr>
            <a:r>
              <a:rPr lang="en-US" sz="900" dirty="0">
                <a:solidFill>
                  <a:srgbClr val="D8AF71"/>
                </a:solidFill>
              </a:rPr>
              <a:t>PART</a:t>
            </a:r>
            <a:endParaRPr lang="en-US" sz="900" dirty="0"/>
          </a:p>
        </p:txBody>
      </p:sp>
      <p:sp>
        <p:nvSpPr>
          <p:cNvPr id="22" name="Text 20"/>
          <p:cNvSpPr/>
          <p:nvPr/>
        </p:nvSpPr>
        <p:spPr>
          <a:xfrm>
            <a:off x="6080760" y="3291840"/>
            <a:ext cx="2926080" cy="822960"/>
          </a:xfrm>
          <a:prstGeom prst="rect">
            <a:avLst/>
          </a:prstGeom>
          <a:noFill/>
          <a:ln/>
        </p:spPr>
        <p:txBody>
          <a:bodyPr wrap="square" rtlCol="0" anchor="ctr"/>
          <a:lstStyle/>
          <a:p>
            <a:pPr indent="0" marL="0">
              <a:buNone/>
            </a:pPr>
            <a:r>
              <a:rPr lang="en-US" sz="1700" dirty="0">
                <a:solidFill>
                  <a:srgbClr val="FFFFFF"/>
                </a:solidFill>
                <a:latin typeface="Microsoft YaHei" pitchFamily="34" charset="0"/>
                <a:ea typeface="Microsoft YaHei" pitchFamily="34" charset="-122"/>
                <a:cs typeface="Microsoft YaHei" pitchFamily="34" charset="-120"/>
              </a:rPr>
              <a:t>规划投入与下一步</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8AF71"/>
          </a:solidFill>
          <a:ln/>
        </p:spPr>
      </p:sp>
      <p:sp>
        <p:nvSpPr>
          <p:cNvPr id="3" name="Text 1"/>
          <p:cNvSpPr/>
          <p:nvPr/>
        </p:nvSpPr>
        <p:spPr>
          <a:xfrm>
            <a:off x="822960" y="1828800"/>
            <a:ext cx="5486400" cy="457200"/>
          </a:xfrm>
          <a:prstGeom prst="rect">
            <a:avLst/>
          </a:prstGeom>
          <a:noFill/>
          <a:ln/>
        </p:spPr>
        <p:txBody>
          <a:bodyPr wrap="square" rtlCol="0" anchor="ctr"/>
          <a:lstStyle/>
          <a:p>
            <a:pPr indent="0" marL="0">
              <a:buNone/>
            </a:pPr>
            <a:r>
              <a:rPr lang="en-US" sz="2000" b="1" dirty="0">
                <a:solidFill>
                  <a:srgbClr val="D8AF71"/>
                </a:solidFill>
                <a:latin typeface="Microsoft YaHei" pitchFamily="34" charset="0"/>
                <a:ea typeface="Microsoft YaHei" pitchFamily="34" charset="-122"/>
                <a:cs typeface="Microsoft YaHei" pitchFamily="34" charset="-120"/>
              </a:rPr>
              <a:t>PART  01</a:t>
            </a:r>
            <a:endParaRPr lang="en-US" sz="2000" dirty="0"/>
          </a:p>
        </p:txBody>
      </p:sp>
      <p:sp>
        <p:nvSpPr>
          <p:cNvPr id="4" name="Text 2"/>
          <p:cNvSpPr/>
          <p:nvPr/>
        </p:nvSpPr>
        <p:spPr>
          <a:xfrm>
            <a:off x="822960" y="233172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明确正确的</a:t>
            </a:r>
            <a:endParaRPr lang="en-US" sz="3200" dirty="0"/>
          </a:p>
        </p:txBody>
      </p:sp>
      <p:sp>
        <p:nvSpPr>
          <p:cNvPr id="5" name="Text 3"/>
          <p:cNvSpPr/>
          <p:nvPr/>
        </p:nvSpPr>
        <p:spPr>
          <a:xfrm>
            <a:off x="822960" y="288036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研究方向</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明确申请人的研究定位</a:t>
            </a:r>
            <a:endParaRPr lang="en-US" sz="2600" dirty="0"/>
          </a:p>
        </p:txBody>
      </p:sp>
      <p:sp>
        <p:nvSpPr>
          <p:cNvPr id="4" name="Shape 2"/>
          <p:cNvSpPr/>
          <p:nvPr/>
        </p:nvSpPr>
        <p:spPr>
          <a:xfrm>
            <a:off x="640080" y="1371600"/>
            <a:ext cx="3749040" cy="320040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5" name="Shape 3"/>
          <p:cNvSpPr/>
          <p:nvPr/>
        </p:nvSpPr>
        <p:spPr>
          <a:xfrm>
            <a:off x="640080" y="1371600"/>
            <a:ext cx="777240" cy="502920"/>
          </a:xfrm>
          <a:prstGeom prst="rect">
            <a:avLst/>
          </a:prstGeom>
          <a:solidFill>
            <a:srgbClr val="D8AF71"/>
          </a:solidFill>
          <a:ln/>
        </p:spPr>
      </p:sp>
      <p:sp>
        <p:nvSpPr>
          <p:cNvPr id="6" name="Text 4"/>
          <p:cNvSpPr/>
          <p:nvPr/>
        </p:nvSpPr>
        <p:spPr>
          <a:xfrm>
            <a:off x="640080" y="1371600"/>
            <a:ext cx="7772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01</a:t>
            </a:r>
            <a:endParaRPr lang="en-US" sz="1800" dirty="0"/>
          </a:p>
        </p:txBody>
      </p:sp>
      <p:sp>
        <p:nvSpPr>
          <p:cNvPr id="7" name="Text 5"/>
          <p:cNvSpPr/>
          <p:nvPr/>
        </p:nvSpPr>
        <p:spPr>
          <a:xfrm>
            <a:off x="868680" y="2057400"/>
            <a:ext cx="3291840" cy="457200"/>
          </a:xfrm>
          <a:prstGeom prst="rect">
            <a:avLst/>
          </a:prstGeom>
          <a:noFill/>
          <a:ln/>
        </p:spPr>
        <p:txBody>
          <a:bodyPr wrap="square" rtlCol="0" anchor="ctr"/>
          <a:lstStyle/>
          <a:p>
            <a:pPr indent="0" marL="0">
              <a:buNone/>
            </a:pPr>
            <a:r>
              <a:rPr lang="en-US" sz="1700" b="1" dirty="0">
                <a:solidFill>
                  <a:srgbClr val="262421"/>
                </a:solidFill>
                <a:latin typeface="Microsoft YaHei" pitchFamily="34" charset="0"/>
                <a:ea typeface="Microsoft YaHei" pitchFamily="34" charset="-122"/>
                <a:cs typeface="Microsoft YaHei" pitchFamily="34" charset="-120"/>
              </a:rPr>
              <a:t>梳理背景画像</a:t>
            </a:r>
            <a:endParaRPr lang="en-US" sz="1700" dirty="0"/>
          </a:p>
        </p:txBody>
      </p:sp>
      <p:sp>
        <p:nvSpPr>
          <p:cNvPr id="8" name="Shape 6"/>
          <p:cNvSpPr/>
          <p:nvPr/>
        </p:nvSpPr>
        <p:spPr>
          <a:xfrm>
            <a:off x="868680" y="2542032"/>
            <a:ext cx="3246120" cy="0"/>
          </a:xfrm>
          <a:prstGeom prst="line">
            <a:avLst/>
          </a:prstGeom>
          <a:noFill/>
          <a:ln w="12700">
            <a:solidFill>
              <a:srgbClr val="D9D2C7"/>
            </a:solidFill>
            <a:prstDash val="solid"/>
          </a:ln>
        </p:spPr>
      </p:sp>
      <p:sp>
        <p:nvSpPr>
          <p:cNvPr id="9" name="Text 7"/>
          <p:cNvSpPr/>
          <p:nvPr/>
        </p:nvSpPr>
        <p:spPr>
          <a:xfrm>
            <a:off x="868680" y="2651760"/>
            <a:ext cx="3291840" cy="1737360"/>
          </a:xfrm>
          <a:prstGeom prst="rect">
            <a:avLst/>
          </a:prstGeom>
          <a:noFill/>
          <a:ln/>
        </p:spPr>
        <p:txBody>
          <a:bodyPr wrap="square" rtlCol="0" anchor="t"/>
          <a:lstStyle/>
          <a:p>
            <a:pPr indent="0" marL="0">
              <a:buNone/>
            </a:pPr>
            <a:r>
              <a:rPr lang="en-US" sz="1250" dirty="0">
                <a:solidFill>
                  <a:srgbClr val="6B6560"/>
                </a:solidFill>
                <a:latin typeface="Microsoft YaHei" pitchFamily="34" charset="0"/>
                <a:ea typeface="Microsoft YaHei" pitchFamily="34" charset="-122"/>
                <a:cs typeface="Microsoft YaHei" pitchFamily="34" charset="-120"/>
              </a:rPr>
              <a:t>从学生的学术背景、研究兴趣、经历与长期目标入手，建立背景画像。这份画像将成为后续选择学位方向、目标院校、研究领域与资助渠道的基础。</a:t>
            </a:r>
            <a:endParaRPr lang="en-US" sz="1250" dirty="0"/>
          </a:p>
        </p:txBody>
      </p:sp>
      <p:sp>
        <p:nvSpPr>
          <p:cNvPr id="10" name="Shape 8"/>
          <p:cNvSpPr/>
          <p:nvPr/>
        </p:nvSpPr>
        <p:spPr>
          <a:xfrm>
            <a:off x="4709160" y="1371600"/>
            <a:ext cx="3749040" cy="320040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1" name="Shape 9"/>
          <p:cNvSpPr/>
          <p:nvPr/>
        </p:nvSpPr>
        <p:spPr>
          <a:xfrm>
            <a:off x="4709160" y="1371600"/>
            <a:ext cx="777240" cy="502920"/>
          </a:xfrm>
          <a:prstGeom prst="rect">
            <a:avLst/>
          </a:prstGeom>
          <a:solidFill>
            <a:srgbClr val="D8AF71"/>
          </a:solidFill>
          <a:ln/>
        </p:spPr>
      </p:sp>
      <p:sp>
        <p:nvSpPr>
          <p:cNvPr id="12" name="Text 10"/>
          <p:cNvSpPr/>
          <p:nvPr/>
        </p:nvSpPr>
        <p:spPr>
          <a:xfrm>
            <a:off x="4709160" y="1371600"/>
            <a:ext cx="77724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02</a:t>
            </a:r>
            <a:endParaRPr lang="en-US" sz="1800" dirty="0"/>
          </a:p>
        </p:txBody>
      </p:sp>
      <p:sp>
        <p:nvSpPr>
          <p:cNvPr id="13" name="Text 11"/>
          <p:cNvSpPr/>
          <p:nvPr/>
        </p:nvSpPr>
        <p:spPr>
          <a:xfrm>
            <a:off x="4937760" y="2057400"/>
            <a:ext cx="3291840" cy="457200"/>
          </a:xfrm>
          <a:prstGeom prst="rect">
            <a:avLst/>
          </a:prstGeom>
          <a:noFill/>
          <a:ln/>
        </p:spPr>
        <p:txBody>
          <a:bodyPr wrap="square" rtlCol="0" anchor="ctr"/>
          <a:lstStyle/>
          <a:p>
            <a:pPr indent="0" marL="0">
              <a:buNone/>
            </a:pPr>
            <a:r>
              <a:rPr lang="en-US" sz="1700" b="1" dirty="0">
                <a:solidFill>
                  <a:srgbClr val="262421"/>
                </a:solidFill>
                <a:latin typeface="Microsoft YaHei" pitchFamily="34" charset="0"/>
                <a:ea typeface="Microsoft YaHei" pitchFamily="34" charset="-122"/>
                <a:cs typeface="Microsoft YaHei" pitchFamily="34" charset="-120"/>
              </a:rPr>
              <a:t>对齐研究方向与未来目标</a:t>
            </a:r>
            <a:endParaRPr lang="en-US" sz="1700" dirty="0"/>
          </a:p>
        </p:txBody>
      </p:sp>
      <p:sp>
        <p:nvSpPr>
          <p:cNvPr id="14" name="Shape 12"/>
          <p:cNvSpPr/>
          <p:nvPr/>
        </p:nvSpPr>
        <p:spPr>
          <a:xfrm>
            <a:off x="4937760" y="2542032"/>
            <a:ext cx="3246120" cy="0"/>
          </a:xfrm>
          <a:prstGeom prst="line">
            <a:avLst/>
          </a:prstGeom>
          <a:noFill/>
          <a:ln w="12700">
            <a:solidFill>
              <a:srgbClr val="D9D2C7"/>
            </a:solidFill>
            <a:prstDash val="solid"/>
          </a:ln>
        </p:spPr>
      </p:sp>
      <p:sp>
        <p:nvSpPr>
          <p:cNvPr id="15" name="Text 13"/>
          <p:cNvSpPr/>
          <p:nvPr/>
        </p:nvSpPr>
        <p:spPr>
          <a:xfrm>
            <a:off x="4937760" y="2651760"/>
            <a:ext cx="3291840" cy="1737360"/>
          </a:xfrm>
          <a:prstGeom prst="rect">
            <a:avLst/>
          </a:prstGeom>
          <a:noFill/>
          <a:ln/>
        </p:spPr>
        <p:txBody>
          <a:bodyPr wrap="square" rtlCol="0" anchor="t"/>
          <a:lstStyle/>
          <a:p>
            <a:pPr indent="0" marL="0">
              <a:buNone/>
            </a:pPr>
            <a:r>
              <a:rPr lang="en-US" sz="1250" dirty="0">
                <a:solidFill>
                  <a:srgbClr val="6B6560"/>
                </a:solidFill>
                <a:latin typeface="Microsoft YaHei" pitchFamily="34" charset="0"/>
                <a:ea typeface="Microsoft YaHei" pitchFamily="34" charset="-122"/>
                <a:cs typeface="Microsoft YaHei" pitchFamily="34" charset="-120"/>
              </a:rPr>
              <a:t>研究导师帮助学生找到能够连接其现有专长与未来学术/职业目标的研究方向，从而增强申请材料在教授与招生委员会面前的整体叙事说服力。</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锁定目标院校、教授与实验室</a:t>
            </a:r>
            <a:endParaRPr lang="en-US" sz="2600" dirty="0"/>
          </a:p>
        </p:txBody>
      </p:sp>
      <p:sp>
        <p:nvSpPr>
          <p:cNvPr id="4" name="Shape 2"/>
          <p:cNvSpPr/>
          <p:nvPr/>
        </p:nvSpPr>
        <p:spPr>
          <a:xfrm>
            <a:off x="1417320" y="1371600"/>
            <a:ext cx="640080" cy="640080"/>
          </a:xfrm>
          <a:prstGeom prst="oval">
            <a:avLst/>
          </a:prstGeom>
          <a:solidFill>
            <a:srgbClr val="E8CFA0"/>
          </a:solidFill>
          <a:ln/>
        </p:spPr>
      </p:sp>
      <p:pic>
        <p:nvPicPr>
          <p:cNvPr id="5" name="Image 0" descr="preencoded.png">    </p:cNvPr>
          <p:cNvPicPr>
            <a:picLocks noChangeAspect="1"/>
          </p:cNvPicPr>
          <p:nvPr/>
        </p:nvPicPr>
        <p:blipFill>
          <a:blip r:embed="rId1"/>
          <a:stretch>
            <a:fillRect/>
          </a:stretch>
        </p:blipFill>
        <p:spPr>
          <a:xfrm>
            <a:off x="1581912" y="1536192"/>
            <a:ext cx="310896" cy="310896"/>
          </a:xfrm>
          <a:prstGeom prst="rect">
            <a:avLst/>
          </a:prstGeom>
        </p:spPr>
      </p:pic>
      <p:sp>
        <p:nvSpPr>
          <p:cNvPr id="6" name="Text 3"/>
          <p:cNvSpPr/>
          <p:nvPr/>
        </p:nvSpPr>
        <p:spPr>
          <a:xfrm>
            <a:off x="502920" y="2148840"/>
            <a:ext cx="2468880" cy="54864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调研匹配院校</a:t>
            </a:r>
            <a:endParaRPr lang="en-US" sz="1500" dirty="0"/>
          </a:p>
        </p:txBody>
      </p:sp>
      <p:sp>
        <p:nvSpPr>
          <p:cNvPr id="7" name="Shape 4"/>
          <p:cNvSpPr/>
          <p:nvPr/>
        </p:nvSpPr>
        <p:spPr>
          <a:xfrm>
            <a:off x="822960" y="2697480"/>
            <a:ext cx="1828800" cy="0"/>
          </a:xfrm>
          <a:prstGeom prst="line">
            <a:avLst/>
          </a:prstGeom>
          <a:noFill/>
          <a:ln w="12700">
            <a:solidFill>
              <a:srgbClr val="D8AF71"/>
            </a:solidFill>
            <a:prstDash val="solid"/>
          </a:ln>
        </p:spPr>
      </p:sp>
      <p:sp>
        <p:nvSpPr>
          <p:cNvPr id="8" name="Text 5"/>
          <p:cNvSpPr/>
          <p:nvPr/>
        </p:nvSpPr>
        <p:spPr>
          <a:xfrm>
            <a:off x="502920" y="2788920"/>
            <a:ext cx="2468880" cy="1828800"/>
          </a:xfrm>
          <a:prstGeom prst="rect">
            <a:avLst/>
          </a:prstGeom>
          <a:noFill/>
          <a:ln/>
        </p:spPr>
        <p:txBody>
          <a:bodyPr wrap="square" rtlCol="0" anchor="t"/>
          <a:lstStyle/>
          <a:p>
            <a:pPr algn="ctr" indent="0" marL="0">
              <a:buNone/>
            </a:pPr>
            <a:r>
              <a:rPr lang="en-US" sz="1150" dirty="0">
                <a:solidFill>
                  <a:srgbClr val="C9C4BC"/>
                </a:solidFill>
                <a:latin typeface="Microsoft YaHei" pitchFamily="34" charset="0"/>
                <a:ea typeface="Microsoft YaHei" pitchFamily="34" charset="-122"/>
                <a:cs typeface="Microsoft YaHei" pitchFamily="34" charset="-120"/>
              </a:rPr>
              <a:t>综合考量研究实力、师资水平、学术契合度、所在国家、资助情况与项目要求，评估学生目标研究方向下的院校与实验室。</a:t>
            </a:r>
            <a:endParaRPr lang="en-US" sz="1150" dirty="0"/>
          </a:p>
        </p:txBody>
      </p:sp>
      <p:sp>
        <p:nvSpPr>
          <p:cNvPr id="9" name="Shape 6"/>
          <p:cNvSpPr/>
          <p:nvPr/>
        </p:nvSpPr>
        <p:spPr>
          <a:xfrm>
            <a:off x="4343400" y="1371600"/>
            <a:ext cx="640080" cy="640080"/>
          </a:xfrm>
          <a:prstGeom prst="oval">
            <a:avLst/>
          </a:prstGeom>
          <a:solidFill>
            <a:srgbClr val="E8CFA0"/>
          </a:solidFill>
          <a:ln/>
        </p:spPr>
      </p:sp>
      <p:pic>
        <p:nvPicPr>
          <p:cNvPr id="10" name="Image 1" descr="preencoded.png">    </p:cNvPr>
          <p:cNvPicPr>
            <a:picLocks noChangeAspect="1"/>
          </p:cNvPicPr>
          <p:nvPr/>
        </p:nvPicPr>
        <p:blipFill>
          <a:blip r:embed="rId2"/>
          <a:stretch>
            <a:fillRect/>
          </a:stretch>
        </p:blipFill>
        <p:spPr>
          <a:xfrm>
            <a:off x="4507992" y="1536192"/>
            <a:ext cx="310896" cy="310896"/>
          </a:xfrm>
          <a:prstGeom prst="rect">
            <a:avLst/>
          </a:prstGeom>
        </p:spPr>
      </p:pic>
      <p:sp>
        <p:nvSpPr>
          <p:cNvPr id="11" name="Text 7"/>
          <p:cNvSpPr/>
          <p:nvPr/>
        </p:nvSpPr>
        <p:spPr>
          <a:xfrm>
            <a:off x="3429000" y="2148840"/>
            <a:ext cx="2468880" cy="54864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锁定教授与实验室清单</a:t>
            </a:r>
            <a:endParaRPr lang="en-US" sz="1500" dirty="0"/>
          </a:p>
        </p:txBody>
      </p:sp>
      <p:sp>
        <p:nvSpPr>
          <p:cNvPr id="12" name="Shape 8"/>
          <p:cNvSpPr/>
          <p:nvPr/>
        </p:nvSpPr>
        <p:spPr>
          <a:xfrm>
            <a:off x="3749040" y="2697480"/>
            <a:ext cx="1828800" cy="0"/>
          </a:xfrm>
          <a:prstGeom prst="line">
            <a:avLst/>
          </a:prstGeom>
          <a:noFill/>
          <a:ln w="12700">
            <a:solidFill>
              <a:srgbClr val="D8AF71"/>
            </a:solidFill>
            <a:prstDash val="solid"/>
          </a:ln>
        </p:spPr>
      </p:sp>
      <p:sp>
        <p:nvSpPr>
          <p:cNvPr id="13" name="Text 9"/>
          <p:cNvSpPr/>
          <p:nvPr/>
        </p:nvSpPr>
        <p:spPr>
          <a:xfrm>
            <a:off x="3429000" y="2788920"/>
            <a:ext cx="2468880" cy="1828800"/>
          </a:xfrm>
          <a:prstGeom prst="rect">
            <a:avLst/>
          </a:prstGeom>
          <a:noFill/>
          <a:ln/>
        </p:spPr>
        <p:txBody>
          <a:bodyPr wrap="square" rtlCol="0" anchor="t"/>
          <a:lstStyle/>
          <a:p>
            <a:pPr algn="ctr" indent="0" marL="0">
              <a:buNone/>
            </a:pPr>
            <a:r>
              <a:rPr lang="en-US" sz="1150" dirty="0">
                <a:solidFill>
                  <a:srgbClr val="C9C4BC"/>
                </a:solidFill>
                <a:latin typeface="Microsoft YaHei" pitchFamily="34" charset="0"/>
                <a:ea typeface="Microsoft YaHei" pitchFamily="34" charset="-122"/>
                <a:cs typeface="Microsoft YaHei" pitchFamily="34" charset="-120"/>
              </a:rPr>
              <a:t>基于研究相似度与资助潜力，在多所院校中锁定目标教授。持续、系统的联系触达能提升回复率，也提高最终建立学术连接的概率。</a:t>
            </a:r>
            <a:endParaRPr lang="en-US" sz="1150" dirty="0"/>
          </a:p>
        </p:txBody>
      </p:sp>
      <p:sp>
        <p:nvSpPr>
          <p:cNvPr id="14" name="Shape 10"/>
          <p:cNvSpPr/>
          <p:nvPr/>
        </p:nvSpPr>
        <p:spPr>
          <a:xfrm>
            <a:off x="7269480" y="1371600"/>
            <a:ext cx="640080" cy="640080"/>
          </a:xfrm>
          <a:prstGeom prst="oval">
            <a:avLst/>
          </a:prstGeom>
          <a:solidFill>
            <a:srgbClr val="E8CFA0"/>
          </a:solidFill>
          <a:ln/>
        </p:spPr>
      </p:sp>
      <p:pic>
        <p:nvPicPr>
          <p:cNvPr id="15" name="Image 2" descr="preencoded.png">    </p:cNvPr>
          <p:cNvPicPr>
            <a:picLocks noChangeAspect="1"/>
          </p:cNvPicPr>
          <p:nvPr/>
        </p:nvPicPr>
        <p:blipFill>
          <a:blip r:embed="rId3"/>
          <a:stretch>
            <a:fillRect/>
          </a:stretch>
        </p:blipFill>
        <p:spPr>
          <a:xfrm>
            <a:off x="7434072" y="1536192"/>
            <a:ext cx="310896" cy="310896"/>
          </a:xfrm>
          <a:prstGeom prst="rect">
            <a:avLst/>
          </a:prstGeom>
        </p:spPr>
      </p:pic>
      <p:sp>
        <p:nvSpPr>
          <p:cNvPr id="16" name="Text 11"/>
          <p:cNvSpPr/>
          <p:nvPr/>
        </p:nvSpPr>
        <p:spPr>
          <a:xfrm>
            <a:off x="6355080" y="2148840"/>
            <a:ext cx="2468880" cy="548640"/>
          </a:xfrm>
          <a:prstGeom prst="rect">
            <a:avLst/>
          </a:prstGeom>
          <a:noFill/>
          <a:ln/>
        </p:spPr>
        <p:txBody>
          <a:bodyPr wrap="square" rtlCol="0" anchor="ctr"/>
          <a:lstStyle/>
          <a:p>
            <a:pPr algn="ctr" indent="0" marL="0">
              <a:buNone/>
            </a:pPr>
            <a:r>
              <a:rPr lang="en-US" sz="1500" b="1" dirty="0">
                <a:solidFill>
                  <a:srgbClr val="FFFFFF"/>
                </a:solidFill>
                <a:latin typeface="Microsoft YaHei" pitchFamily="34" charset="0"/>
                <a:ea typeface="Microsoft YaHei" pitchFamily="34" charset="-122"/>
                <a:cs typeface="Microsoft YaHei" pitchFamily="34" charset="-120"/>
              </a:rPr>
              <a:t>定制化套磁沟通</a:t>
            </a:r>
            <a:endParaRPr lang="en-US" sz="1500" dirty="0"/>
          </a:p>
        </p:txBody>
      </p:sp>
      <p:sp>
        <p:nvSpPr>
          <p:cNvPr id="17" name="Shape 12"/>
          <p:cNvSpPr/>
          <p:nvPr/>
        </p:nvSpPr>
        <p:spPr>
          <a:xfrm>
            <a:off x="6675120" y="2697480"/>
            <a:ext cx="1828800" cy="0"/>
          </a:xfrm>
          <a:prstGeom prst="line">
            <a:avLst/>
          </a:prstGeom>
          <a:noFill/>
          <a:ln w="12700">
            <a:solidFill>
              <a:srgbClr val="D8AF71"/>
            </a:solidFill>
            <a:prstDash val="solid"/>
          </a:ln>
        </p:spPr>
      </p:sp>
      <p:sp>
        <p:nvSpPr>
          <p:cNvPr id="18" name="Text 13"/>
          <p:cNvSpPr/>
          <p:nvPr/>
        </p:nvSpPr>
        <p:spPr>
          <a:xfrm>
            <a:off x="6355080" y="2788920"/>
            <a:ext cx="2468880" cy="1828800"/>
          </a:xfrm>
          <a:prstGeom prst="rect">
            <a:avLst/>
          </a:prstGeom>
          <a:noFill/>
          <a:ln/>
        </p:spPr>
        <p:txBody>
          <a:bodyPr wrap="square" rtlCol="0" anchor="t"/>
          <a:lstStyle/>
          <a:p>
            <a:pPr algn="ctr" indent="0" marL="0">
              <a:buNone/>
            </a:pPr>
            <a:r>
              <a:rPr lang="en-US" sz="1150" dirty="0">
                <a:solidFill>
                  <a:srgbClr val="C9C4BC"/>
                </a:solidFill>
                <a:latin typeface="Microsoft YaHei" pitchFamily="34" charset="0"/>
                <a:ea typeface="Microsoft YaHei" pitchFamily="34" charset="-122"/>
                <a:cs typeface="Microsoft YaHei" pitchFamily="34" charset="-120"/>
              </a:rPr>
              <a:t>为每位教授制定个性化的联系方案与定制化邮件，聚焦研究契合度与可获得的资助机会，目标是获得实质回复，而非泛泛的通用沟通。</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把研究进展转化为申请策略</a:t>
            </a:r>
            <a:endParaRPr lang="en-US" sz="2600" dirty="0"/>
          </a:p>
        </p:txBody>
      </p:sp>
      <p:sp>
        <p:nvSpPr>
          <p:cNvPr id="4" name="Shape 2"/>
          <p:cNvSpPr/>
          <p:nvPr/>
        </p:nvSpPr>
        <p:spPr>
          <a:xfrm>
            <a:off x="548640" y="1371600"/>
            <a:ext cx="2377440" cy="3200400"/>
          </a:xfrm>
          <a:prstGeom prst="rect">
            <a:avLst/>
          </a:prstGeom>
          <a:solidFill>
            <a:srgbClr val="E8CFA0"/>
          </a:solidFill>
          <a:ln/>
        </p:spPr>
      </p:sp>
      <p:sp>
        <p:nvSpPr>
          <p:cNvPr id="5" name="Shape 3"/>
          <p:cNvSpPr/>
          <p:nvPr/>
        </p:nvSpPr>
        <p:spPr>
          <a:xfrm>
            <a:off x="548640" y="1371600"/>
            <a:ext cx="2377440" cy="640080"/>
          </a:xfrm>
          <a:prstGeom prst="rect">
            <a:avLst/>
          </a:prstGeom>
          <a:solidFill>
            <a:srgbClr val="D8AF71"/>
          </a:solidFill>
          <a:ln/>
        </p:spPr>
      </p:sp>
      <p:sp>
        <p:nvSpPr>
          <p:cNvPr id="6" name="Shape 4"/>
          <p:cNvSpPr/>
          <p:nvPr/>
        </p:nvSpPr>
        <p:spPr>
          <a:xfrm>
            <a:off x="548640" y="3931920"/>
            <a:ext cx="2377440" cy="640080"/>
          </a:xfrm>
          <a:prstGeom prst="rect">
            <a:avLst/>
          </a:prstGeom>
          <a:solidFill>
            <a:srgbClr val="D8AF71"/>
          </a:solidFill>
          <a:ln/>
        </p:spPr>
      </p:sp>
      <p:pic>
        <p:nvPicPr>
          <p:cNvPr id="7" name="Image 0" descr="preencoded.png">    </p:cNvPr>
          <p:cNvPicPr>
            <a:picLocks noChangeAspect="1"/>
          </p:cNvPicPr>
          <p:nvPr/>
        </p:nvPicPr>
        <p:blipFill>
          <a:blip r:embed="rId1"/>
          <a:stretch>
            <a:fillRect/>
          </a:stretch>
        </p:blipFill>
        <p:spPr>
          <a:xfrm>
            <a:off x="1371600" y="2377440"/>
            <a:ext cx="822960" cy="822960"/>
          </a:xfrm>
          <a:prstGeom prst="rect">
            <a:avLst/>
          </a:prstGeom>
        </p:spPr>
      </p:pic>
      <p:sp>
        <p:nvSpPr>
          <p:cNvPr id="8" name="Shape 5"/>
          <p:cNvSpPr/>
          <p:nvPr/>
        </p:nvSpPr>
        <p:spPr>
          <a:xfrm>
            <a:off x="3246120" y="1371600"/>
            <a:ext cx="5394960" cy="932688"/>
          </a:xfrm>
          <a:prstGeom prst="rect">
            <a:avLst/>
          </a:prstGeom>
          <a:solidFill>
            <a:srgbClr val="FFFFFF"/>
          </a:solidFill>
          <a:ln/>
          <a:effectLst>
            <a:outerShdw sx="100000" sy="100000" kx="0" ky="0" algn="bl" rotWithShape="0" blurRad="76200" dist="25400" dir="8100000">
              <a:srgbClr val="000000">
                <a:alpha val="20000"/>
              </a:srgbClr>
            </a:outerShdw>
          </a:effectLst>
        </p:spPr>
      </p:sp>
      <p:sp>
        <p:nvSpPr>
          <p:cNvPr id="9" name="Shape 6"/>
          <p:cNvSpPr/>
          <p:nvPr/>
        </p:nvSpPr>
        <p:spPr>
          <a:xfrm>
            <a:off x="3108960" y="1609344"/>
            <a:ext cx="457200" cy="457200"/>
          </a:xfrm>
          <a:prstGeom prst="oval">
            <a:avLst/>
          </a:prstGeom>
          <a:solidFill>
            <a:srgbClr val="D8AF71"/>
          </a:solidFill>
          <a:ln/>
        </p:spPr>
      </p:sp>
      <p:sp>
        <p:nvSpPr>
          <p:cNvPr id="10" name="Text 7"/>
          <p:cNvSpPr/>
          <p:nvPr/>
        </p:nvSpPr>
        <p:spPr>
          <a:xfrm>
            <a:off x="3108960" y="160934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01</a:t>
            </a:r>
            <a:endParaRPr lang="en-US" sz="1300" dirty="0"/>
          </a:p>
        </p:txBody>
      </p:sp>
      <p:sp>
        <p:nvSpPr>
          <p:cNvPr id="11" name="Text 8"/>
          <p:cNvSpPr/>
          <p:nvPr/>
        </p:nvSpPr>
        <p:spPr>
          <a:xfrm>
            <a:off x="3794760" y="1444752"/>
            <a:ext cx="4709160" cy="274320"/>
          </a:xfrm>
          <a:prstGeom prst="rect">
            <a:avLst/>
          </a:prstGeom>
          <a:noFill/>
          <a:ln/>
        </p:spPr>
        <p:txBody>
          <a:bodyPr wrap="square" rtlCol="0" anchor="ctr"/>
          <a:lstStyle/>
          <a:p>
            <a:pPr indent="0" marL="0">
              <a:buNone/>
            </a:pPr>
            <a:r>
              <a:rPr lang="en-US" sz="1400" b="1" dirty="0">
                <a:solidFill>
                  <a:srgbClr val="262421"/>
                </a:solidFill>
                <a:latin typeface="Microsoft YaHei" pitchFamily="34" charset="0"/>
                <a:ea typeface="Microsoft YaHei" pitchFamily="34" charset="-122"/>
                <a:cs typeface="Microsoft YaHei" pitchFamily="34" charset="-120"/>
              </a:rPr>
              <a:t>强化科研可信度</a:t>
            </a:r>
            <a:endParaRPr lang="en-US" sz="1400" dirty="0"/>
          </a:p>
        </p:txBody>
      </p:sp>
      <p:sp>
        <p:nvSpPr>
          <p:cNvPr id="12" name="Text 9"/>
          <p:cNvSpPr/>
          <p:nvPr/>
        </p:nvSpPr>
        <p:spPr>
          <a:xfrm>
            <a:off x="3794760" y="1719072"/>
            <a:ext cx="4709160" cy="548640"/>
          </a:xfrm>
          <a:prstGeom prst="rect">
            <a:avLst/>
          </a:prstGeom>
          <a:noFill/>
          <a:ln/>
        </p:spPr>
        <p:txBody>
          <a:bodyPr wrap="square" rtlCol="0" anchor="ctr"/>
          <a:lstStyle/>
          <a:p>
            <a:pPr indent="0" marL="0">
              <a:buNone/>
            </a:pPr>
            <a:r>
              <a:rPr lang="en-US" sz="1050" dirty="0">
                <a:solidFill>
                  <a:srgbClr val="6B6560"/>
                </a:solidFill>
                <a:latin typeface="Microsoft YaHei" pitchFamily="34" charset="0"/>
                <a:ea typeface="Microsoft YaHei" pitchFamily="34" charset="-122"/>
                <a:cs typeface="Microsoft YaHei" pitchFamily="34" charset="-120"/>
              </a:rPr>
              <a:t>学生与研究导师合作，围绕「研究卓越框架」推进研究并争取发表。更扎实的科研成果能显著提升 PhD 申请的可信度。</a:t>
            </a:r>
            <a:endParaRPr lang="en-US" sz="1050" dirty="0"/>
          </a:p>
        </p:txBody>
      </p:sp>
      <p:sp>
        <p:nvSpPr>
          <p:cNvPr id="13" name="Shape 10"/>
          <p:cNvSpPr/>
          <p:nvPr/>
        </p:nvSpPr>
        <p:spPr>
          <a:xfrm>
            <a:off x="3246120" y="2587752"/>
            <a:ext cx="5394960" cy="932688"/>
          </a:xfrm>
          <a:prstGeom prst="rect">
            <a:avLst/>
          </a:prstGeom>
          <a:solidFill>
            <a:srgbClr val="FFFFFF"/>
          </a:solidFill>
          <a:ln/>
          <a:effectLst>
            <a:outerShdw sx="100000" sy="100000" kx="0" ky="0" algn="bl" rotWithShape="0" blurRad="76200" dist="25400" dir="8100000">
              <a:srgbClr val="000000">
                <a:alpha val="20000"/>
              </a:srgbClr>
            </a:outerShdw>
          </a:effectLst>
        </p:spPr>
      </p:sp>
      <p:sp>
        <p:nvSpPr>
          <p:cNvPr id="14" name="Shape 11"/>
          <p:cNvSpPr/>
          <p:nvPr/>
        </p:nvSpPr>
        <p:spPr>
          <a:xfrm>
            <a:off x="3108960" y="2825496"/>
            <a:ext cx="457200" cy="457200"/>
          </a:xfrm>
          <a:prstGeom prst="oval">
            <a:avLst/>
          </a:prstGeom>
          <a:solidFill>
            <a:srgbClr val="D8AF71"/>
          </a:solidFill>
          <a:ln/>
        </p:spPr>
      </p:sp>
      <p:sp>
        <p:nvSpPr>
          <p:cNvPr id="15" name="Text 12"/>
          <p:cNvSpPr/>
          <p:nvPr/>
        </p:nvSpPr>
        <p:spPr>
          <a:xfrm>
            <a:off x="3108960" y="28254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02</a:t>
            </a:r>
            <a:endParaRPr lang="en-US" sz="1300" dirty="0"/>
          </a:p>
        </p:txBody>
      </p:sp>
      <p:sp>
        <p:nvSpPr>
          <p:cNvPr id="16" name="Text 13"/>
          <p:cNvSpPr/>
          <p:nvPr/>
        </p:nvSpPr>
        <p:spPr>
          <a:xfrm>
            <a:off x="3794760" y="2660904"/>
            <a:ext cx="4709160" cy="274320"/>
          </a:xfrm>
          <a:prstGeom prst="rect">
            <a:avLst/>
          </a:prstGeom>
          <a:noFill/>
          <a:ln/>
        </p:spPr>
        <p:txBody>
          <a:bodyPr wrap="square" rtlCol="0" anchor="ctr"/>
          <a:lstStyle/>
          <a:p>
            <a:pPr indent="0" marL="0">
              <a:buNone/>
            </a:pPr>
            <a:r>
              <a:rPr lang="en-US" sz="1400" b="1" dirty="0">
                <a:solidFill>
                  <a:srgbClr val="262421"/>
                </a:solidFill>
                <a:latin typeface="Microsoft YaHei" pitchFamily="34" charset="0"/>
                <a:ea typeface="Microsoft YaHei" pitchFamily="34" charset="-122"/>
                <a:cs typeface="Microsoft YaHei" pitchFamily="34" charset="-120"/>
              </a:rPr>
              <a:t>规划考试与申请目标</a:t>
            </a:r>
            <a:endParaRPr lang="en-US" sz="1400" dirty="0"/>
          </a:p>
        </p:txBody>
      </p:sp>
      <p:sp>
        <p:nvSpPr>
          <p:cNvPr id="17" name="Text 14"/>
          <p:cNvSpPr/>
          <p:nvPr/>
        </p:nvSpPr>
        <p:spPr>
          <a:xfrm>
            <a:off x="3794760" y="2935224"/>
            <a:ext cx="4709160" cy="548640"/>
          </a:xfrm>
          <a:prstGeom prst="rect">
            <a:avLst/>
          </a:prstGeom>
          <a:noFill/>
          <a:ln/>
        </p:spPr>
        <p:txBody>
          <a:bodyPr wrap="square" rtlCol="0" anchor="ctr"/>
          <a:lstStyle/>
          <a:p>
            <a:pPr indent="0" marL="0">
              <a:buNone/>
            </a:pPr>
            <a:r>
              <a:rPr lang="en-US" sz="1050" dirty="0">
                <a:solidFill>
                  <a:srgbClr val="6B6560"/>
                </a:solidFill>
                <a:latin typeface="Microsoft YaHei" pitchFamily="34" charset="0"/>
                <a:ea typeface="Microsoft YaHei" pitchFamily="34" charset="-122"/>
                <a:cs typeface="Microsoft YaHei" pitchFamily="34" charset="-120"/>
              </a:rPr>
              <a:t>根据学生的学术背景与各院校招生要求，对目标院校进行优先级排序；GRE 等所需考试的备考安排也围绕院校要求与截止日期展开。</a:t>
            </a:r>
            <a:endParaRPr lang="en-US" sz="1050" dirty="0"/>
          </a:p>
        </p:txBody>
      </p:sp>
      <p:sp>
        <p:nvSpPr>
          <p:cNvPr id="18" name="Shape 15"/>
          <p:cNvSpPr/>
          <p:nvPr/>
        </p:nvSpPr>
        <p:spPr>
          <a:xfrm>
            <a:off x="3246120" y="3803904"/>
            <a:ext cx="5394960" cy="932688"/>
          </a:xfrm>
          <a:prstGeom prst="rect">
            <a:avLst/>
          </a:prstGeom>
          <a:solidFill>
            <a:srgbClr val="FFFFFF"/>
          </a:solidFill>
          <a:ln/>
          <a:effectLst>
            <a:outerShdw sx="100000" sy="100000" kx="0" ky="0" algn="bl" rotWithShape="0" blurRad="76200" dist="25400" dir="8100000">
              <a:srgbClr val="000000">
                <a:alpha val="20000"/>
              </a:srgbClr>
            </a:outerShdw>
          </a:effectLst>
        </p:spPr>
      </p:sp>
      <p:sp>
        <p:nvSpPr>
          <p:cNvPr id="19" name="Shape 16"/>
          <p:cNvSpPr/>
          <p:nvPr/>
        </p:nvSpPr>
        <p:spPr>
          <a:xfrm>
            <a:off x="3108960" y="4041648"/>
            <a:ext cx="457200" cy="457200"/>
          </a:xfrm>
          <a:prstGeom prst="oval">
            <a:avLst/>
          </a:prstGeom>
          <a:solidFill>
            <a:srgbClr val="D8AF71"/>
          </a:solidFill>
          <a:ln/>
        </p:spPr>
      </p:sp>
      <p:sp>
        <p:nvSpPr>
          <p:cNvPr id="20" name="Text 17"/>
          <p:cNvSpPr/>
          <p:nvPr/>
        </p:nvSpPr>
        <p:spPr>
          <a:xfrm>
            <a:off x="3108960" y="40416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03</a:t>
            </a:r>
            <a:endParaRPr lang="en-US" sz="1300" dirty="0"/>
          </a:p>
        </p:txBody>
      </p:sp>
      <p:sp>
        <p:nvSpPr>
          <p:cNvPr id="21" name="Text 18"/>
          <p:cNvSpPr/>
          <p:nvPr/>
        </p:nvSpPr>
        <p:spPr>
          <a:xfrm>
            <a:off x="3794760" y="3877056"/>
            <a:ext cx="4709160" cy="274320"/>
          </a:xfrm>
          <a:prstGeom prst="rect">
            <a:avLst/>
          </a:prstGeom>
          <a:noFill/>
          <a:ln/>
        </p:spPr>
        <p:txBody>
          <a:bodyPr wrap="square" rtlCol="0" anchor="ctr"/>
          <a:lstStyle/>
          <a:p>
            <a:pPr indent="0" marL="0">
              <a:buNone/>
            </a:pPr>
            <a:r>
              <a:rPr lang="en-US" sz="1400" b="1" dirty="0">
                <a:solidFill>
                  <a:srgbClr val="262421"/>
                </a:solidFill>
                <a:latin typeface="Microsoft YaHei" pitchFamily="34" charset="0"/>
                <a:ea typeface="Microsoft YaHei" pitchFamily="34" charset="-122"/>
                <a:cs typeface="Microsoft YaHei" pitchFamily="34" charset="-120"/>
              </a:rPr>
              <a:t>完成初步差距分析</a:t>
            </a:r>
            <a:endParaRPr lang="en-US" sz="1400" dirty="0"/>
          </a:p>
        </p:txBody>
      </p:sp>
      <p:sp>
        <p:nvSpPr>
          <p:cNvPr id="22" name="Text 19"/>
          <p:cNvSpPr/>
          <p:nvPr/>
        </p:nvSpPr>
        <p:spPr>
          <a:xfrm>
            <a:off x="3794760" y="4151376"/>
            <a:ext cx="4709160" cy="548640"/>
          </a:xfrm>
          <a:prstGeom prst="rect">
            <a:avLst/>
          </a:prstGeom>
          <a:noFill/>
          <a:ln/>
        </p:spPr>
        <p:txBody>
          <a:bodyPr wrap="square" rtlCol="0" anchor="ctr"/>
          <a:lstStyle/>
          <a:p>
            <a:pPr indent="0" marL="0">
              <a:buNone/>
            </a:pPr>
            <a:r>
              <a:rPr lang="en-US" sz="1050" dirty="0">
                <a:solidFill>
                  <a:srgbClr val="6B6560"/>
                </a:solidFill>
                <a:latin typeface="Microsoft YaHei" pitchFamily="34" charset="0"/>
                <a:ea typeface="Microsoft YaHei" pitchFamily="34" charset="-122"/>
                <a:cs typeface="Microsoft YaHei" pitchFamily="34" charset="-120"/>
              </a:rPr>
              <a:t>「明确方向」阶段以一份结构化的差距评估收尾，明确在正式申请前，学术、科研、考试、文书与资助等方面还需要补强哪些环节。</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8AF71"/>
          </a:solidFill>
          <a:ln/>
        </p:spPr>
      </p:sp>
      <p:sp>
        <p:nvSpPr>
          <p:cNvPr id="3" name="Text 1"/>
          <p:cNvSpPr/>
          <p:nvPr/>
        </p:nvSpPr>
        <p:spPr>
          <a:xfrm>
            <a:off x="822960" y="1828800"/>
            <a:ext cx="5486400" cy="457200"/>
          </a:xfrm>
          <a:prstGeom prst="rect">
            <a:avLst/>
          </a:prstGeom>
          <a:noFill/>
          <a:ln/>
        </p:spPr>
        <p:txBody>
          <a:bodyPr wrap="square" rtlCol="0" anchor="ctr"/>
          <a:lstStyle/>
          <a:p>
            <a:pPr indent="0" marL="0">
              <a:buNone/>
            </a:pPr>
            <a:r>
              <a:rPr lang="en-US" sz="2000" b="1" dirty="0">
                <a:solidFill>
                  <a:srgbClr val="D8AF71"/>
                </a:solidFill>
                <a:latin typeface="Microsoft YaHei" pitchFamily="34" charset="0"/>
                <a:ea typeface="Microsoft YaHei" pitchFamily="34" charset="-122"/>
                <a:cs typeface="Microsoft YaHei" pitchFamily="34" charset="-120"/>
              </a:rPr>
              <a:t>PART  02</a:t>
            </a:r>
            <a:endParaRPr lang="en-US" sz="2000" dirty="0"/>
          </a:p>
        </p:txBody>
      </p:sp>
      <p:sp>
        <p:nvSpPr>
          <p:cNvPr id="4" name="Text 2"/>
          <p:cNvSpPr/>
          <p:nvPr/>
        </p:nvSpPr>
        <p:spPr>
          <a:xfrm>
            <a:off x="822960" y="233172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打造有竞争力的</a:t>
            </a:r>
            <a:endParaRPr lang="en-US" sz="3200" dirty="0"/>
          </a:p>
        </p:txBody>
      </p:sp>
      <p:sp>
        <p:nvSpPr>
          <p:cNvPr id="5" name="Text 3"/>
          <p:cNvSpPr/>
          <p:nvPr/>
        </p:nvSpPr>
        <p:spPr>
          <a:xfrm>
            <a:off x="822960" y="288036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申请档案</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梳理完整的申请材料体系</a:t>
            </a:r>
            <a:endParaRPr lang="en-US" sz="2600" dirty="0"/>
          </a:p>
        </p:txBody>
      </p:sp>
      <p:sp>
        <p:nvSpPr>
          <p:cNvPr id="4" name="Shape 2"/>
          <p:cNvSpPr/>
          <p:nvPr/>
        </p:nvSpPr>
        <p:spPr>
          <a:xfrm>
            <a:off x="640080" y="1417320"/>
            <a:ext cx="384048" cy="384048"/>
          </a:xfrm>
          <a:prstGeom prst="oval">
            <a:avLst/>
          </a:prstGeom>
          <a:solidFill>
            <a:srgbClr val="D8AF71"/>
          </a:solidFill>
          <a:ln/>
        </p:spPr>
      </p:sp>
      <p:sp>
        <p:nvSpPr>
          <p:cNvPr id="5" name="Text 3"/>
          <p:cNvSpPr/>
          <p:nvPr/>
        </p:nvSpPr>
        <p:spPr>
          <a:xfrm>
            <a:off x="64008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01</a:t>
            </a:r>
            <a:endParaRPr lang="en-US" sz="1200" dirty="0"/>
          </a:p>
        </p:txBody>
      </p:sp>
      <p:sp>
        <p:nvSpPr>
          <p:cNvPr id="6" name="Shape 4"/>
          <p:cNvSpPr/>
          <p:nvPr/>
        </p:nvSpPr>
        <p:spPr>
          <a:xfrm>
            <a:off x="832104" y="1801368"/>
            <a:ext cx="0" cy="2377440"/>
          </a:xfrm>
          <a:prstGeom prst="line">
            <a:avLst/>
          </a:prstGeom>
          <a:noFill/>
          <a:ln w="15875">
            <a:solidFill>
              <a:srgbClr val="D8AF71"/>
            </a:solidFill>
            <a:prstDash val="solid"/>
          </a:ln>
        </p:spPr>
      </p:sp>
      <p:sp>
        <p:nvSpPr>
          <p:cNvPr id="7" name="Text 5"/>
          <p:cNvSpPr/>
          <p:nvPr/>
        </p:nvSpPr>
        <p:spPr>
          <a:xfrm>
            <a:off x="1143000" y="1371600"/>
            <a:ext cx="3383280" cy="365760"/>
          </a:xfrm>
          <a:prstGeom prst="rect">
            <a:avLst/>
          </a:prstGeom>
          <a:noFill/>
          <a:ln/>
        </p:spPr>
        <p:txBody>
          <a:bodyPr wrap="square" rtlCol="0" anchor="ctr"/>
          <a:lstStyle/>
          <a:p>
            <a:pPr indent="0" marL="0">
              <a:buNone/>
            </a:pPr>
            <a:r>
              <a:rPr lang="en-US" sz="1600" b="1" dirty="0">
                <a:solidFill>
                  <a:srgbClr val="D8AF71"/>
                </a:solidFill>
                <a:latin typeface="Microsoft YaHei" pitchFamily="34" charset="0"/>
                <a:ea typeface="Microsoft YaHei" pitchFamily="34" charset="-122"/>
                <a:cs typeface="Microsoft YaHei" pitchFamily="34" charset="-120"/>
              </a:rPr>
              <a:t>分析目标院校要求</a:t>
            </a:r>
            <a:endParaRPr lang="en-US" sz="1600" dirty="0"/>
          </a:p>
        </p:txBody>
      </p:sp>
      <p:sp>
        <p:nvSpPr>
          <p:cNvPr id="8" name="Text 6"/>
          <p:cNvSpPr/>
          <p:nvPr/>
        </p:nvSpPr>
        <p:spPr>
          <a:xfrm>
            <a:off x="1143000" y="1783080"/>
            <a:ext cx="3383280" cy="2286000"/>
          </a:xfrm>
          <a:prstGeom prst="rect">
            <a:avLst/>
          </a:prstGeom>
          <a:noFill/>
          <a:ln/>
        </p:spPr>
        <p:txBody>
          <a:bodyPr wrap="square" rtlCol="0" anchor="ctr"/>
          <a:lstStyle/>
          <a:p>
            <a:pPr indent="0" marL="0">
              <a:buNone/>
            </a:pPr>
            <a:r>
              <a:rPr lang="en-US" sz="1200" dirty="0">
                <a:solidFill>
                  <a:srgbClr val="C9C4BC"/>
                </a:solidFill>
                <a:latin typeface="Microsoft YaHei" pitchFamily="34" charset="0"/>
                <a:ea typeface="Microsoft YaHei" pitchFamily="34" charset="-122"/>
                <a:cs typeface="Microsoft YaHei" pitchFamily="34" charset="-120"/>
              </a:rPr>
              <a:t>将学生背景画像与目标院校、学位项目的具体要求逐一对照，确保学术记录、科研证明、考试成绩、文书、推荐信等材料都具备清晰的战略指向性。</a:t>
            </a:r>
            <a:endParaRPr lang="en-US" sz="1200" dirty="0"/>
          </a:p>
        </p:txBody>
      </p:sp>
      <p:sp>
        <p:nvSpPr>
          <p:cNvPr id="9" name="Shape 7"/>
          <p:cNvSpPr/>
          <p:nvPr/>
        </p:nvSpPr>
        <p:spPr>
          <a:xfrm>
            <a:off x="4709160" y="1417320"/>
            <a:ext cx="384048" cy="384048"/>
          </a:xfrm>
          <a:prstGeom prst="oval">
            <a:avLst/>
          </a:prstGeom>
          <a:solidFill>
            <a:srgbClr val="6FA3C7"/>
          </a:solidFill>
          <a:ln/>
        </p:spPr>
      </p:sp>
      <p:sp>
        <p:nvSpPr>
          <p:cNvPr id="10" name="Text 8"/>
          <p:cNvSpPr/>
          <p:nvPr/>
        </p:nvSpPr>
        <p:spPr>
          <a:xfrm>
            <a:off x="4709160" y="14173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02</a:t>
            </a:r>
            <a:endParaRPr lang="en-US" sz="1200" dirty="0"/>
          </a:p>
        </p:txBody>
      </p:sp>
      <p:sp>
        <p:nvSpPr>
          <p:cNvPr id="11" name="Shape 9"/>
          <p:cNvSpPr/>
          <p:nvPr/>
        </p:nvSpPr>
        <p:spPr>
          <a:xfrm>
            <a:off x="4901184" y="1801368"/>
            <a:ext cx="0" cy="2377440"/>
          </a:xfrm>
          <a:prstGeom prst="line">
            <a:avLst/>
          </a:prstGeom>
          <a:noFill/>
          <a:ln w="15875">
            <a:solidFill>
              <a:srgbClr val="6FA3C7"/>
            </a:solidFill>
            <a:prstDash val="solid"/>
          </a:ln>
        </p:spPr>
      </p:sp>
      <p:sp>
        <p:nvSpPr>
          <p:cNvPr id="12" name="Text 10"/>
          <p:cNvSpPr/>
          <p:nvPr/>
        </p:nvSpPr>
        <p:spPr>
          <a:xfrm>
            <a:off x="5212080" y="1371600"/>
            <a:ext cx="3383280" cy="365760"/>
          </a:xfrm>
          <a:prstGeom prst="rect">
            <a:avLst/>
          </a:prstGeom>
          <a:noFill/>
          <a:ln/>
        </p:spPr>
        <p:txBody>
          <a:bodyPr wrap="square" rtlCol="0" anchor="ctr"/>
          <a:lstStyle/>
          <a:p>
            <a:pPr indent="0" marL="0">
              <a:buNone/>
            </a:pPr>
            <a:r>
              <a:rPr lang="en-US" sz="1600" b="1" dirty="0">
                <a:solidFill>
                  <a:srgbClr val="D8AF71"/>
                </a:solidFill>
                <a:latin typeface="Microsoft YaHei" pitchFamily="34" charset="0"/>
                <a:ea typeface="Microsoft YaHei" pitchFamily="34" charset="-122"/>
                <a:cs typeface="Microsoft YaHei" pitchFamily="34" charset="-120"/>
              </a:rPr>
              <a:t>优先补齐关键差距</a:t>
            </a:r>
            <a:endParaRPr lang="en-US" sz="1600" dirty="0"/>
          </a:p>
        </p:txBody>
      </p:sp>
      <p:sp>
        <p:nvSpPr>
          <p:cNvPr id="13" name="Text 11"/>
          <p:cNvSpPr/>
          <p:nvPr/>
        </p:nvSpPr>
        <p:spPr>
          <a:xfrm>
            <a:off x="5212080" y="1783080"/>
            <a:ext cx="3383280" cy="2286000"/>
          </a:xfrm>
          <a:prstGeom prst="rect">
            <a:avLst/>
          </a:prstGeom>
          <a:noFill/>
          <a:ln/>
        </p:spPr>
        <p:txBody>
          <a:bodyPr wrap="square" rtlCol="0" anchor="ctr"/>
          <a:lstStyle/>
          <a:p>
            <a:pPr indent="0" marL="0">
              <a:buNone/>
            </a:pPr>
            <a:r>
              <a:rPr lang="en-US" sz="1200" dirty="0">
                <a:solidFill>
                  <a:srgbClr val="C9C4BC"/>
                </a:solidFill>
                <a:latin typeface="Microsoft YaHei" pitchFamily="34" charset="0"/>
                <a:ea typeface="Microsoft YaHei" pitchFamily="34" charset="-122"/>
                <a:cs typeface="Microsoft YaHei" pitchFamily="34" charset="-120"/>
              </a:rPr>
              <a:t>通过系统的差距分析，识别背景画像中缺失或薄弱的环节，并根据其对竞争力的影响及距离申请截止日期的时间进行优先级排序。</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制定以截止日期为导向的执行路线图</a:t>
            </a:r>
            <a:endParaRPr lang="en-US" sz="2600" dirty="0"/>
          </a:p>
        </p:txBody>
      </p:sp>
      <p:sp>
        <p:nvSpPr>
          <p:cNvPr id="4" name="Shape 2"/>
          <p:cNvSpPr/>
          <p:nvPr/>
        </p:nvSpPr>
        <p:spPr>
          <a:xfrm>
            <a:off x="457200" y="1371600"/>
            <a:ext cx="8229600" cy="1280160"/>
          </a:xfrm>
          <a:prstGeom prst="rect">
            <a:avLst/>
          </a:prstGeom>
          <a:solidFill>
            <a:srgbClr val="3D3A36"/>
          </a:solidFill>
          <a:ln/>
        </p:spPr>
      </p:sp>
      <p:pic>
        <p:nvPicPr>
          <p:cNvPr id="5" name="Image 0" descr="preencoded.png">    </p:cNvPr>
          <p:cNvPicPr>
            <a:picLocks noChangeAspect="1"/>
          </p:cNvPicPr>
          <p:nvPr/>
        </p:nvPicPr>
        <p:blipFill>
          <a:blip r:embed="rId1"/>
          <a:stretch>
            <a:fillRect/>
          </a:stretch>
        </p:blipFill>
        <p:spPr>
          <a:xfrm>
            <a:off x="4297680" y="1691640"/>
            <a:ext cx="640080" cy="640080"/>
          </a:xfrm>
          <a:prstGeom prst="rect">
            <a:avLst/>
          </a:prstGeom>
        </p:spPr>
      </p:pic>
      <p:sp>
        <p:nvSpPr>
          <p:cNvPr id="6" name="Text 3"/>
          <p:cNvSpPr/>
          <p:nvPr/>
        </p:nvSpPr>
        <p:spPr>
          <a:xfrm>
            <a:off x="640080" y="2926080"/>
            <a:ext cx="3749040" cy="365760"/>
          </a:xfrm>
          <a:prstGeom prst="rect">
            <a:avLst/>
          </a:prstGeom>
          <a:noFill/>
          <a:ln/>
        </p:spPr>
        <p:txBody>
          <a:bodyPr wrap="square" rtlCol="0" anchor="ctr"/>
          <a:lstStyle/>
          <a:p>
            <a:pPr indent="0" marL="0">
              <a:buNone/>
            </a:pPr>
            <a:r>
              <a:rPr lang="en-US" sz="1600" b="1" dirty="0">
                <a:solidFill>
                  <a:srgbClr val="D8AF71"/>
                </a:solidFill>
                <a:latin typeface="Microsoft YaHei" pitchFamily="34" charset="0"/>
                <a:ea typeface="Microsoft YaHei" pitchFamily="34" charset="-122"/>
                <a:cs typeface="Microsoft YaHei" pitchFamily="34" charset="-120"/>
              </a:rPr>
              <a:t>制定执行计划</a:t>
            </a:r>
            <a:endParaRPr lang="en-US" sz="1600" dirty="0"/>
          </a:p>
        </p:txBody>
      </p:sp>
      <p:sp>
        <p:nvSpPr>
          <p:cNvPr id="7" name="Text 4"/>
          <p:cNvSpPr/>
          <p:nvPr/>
        </p:nvSpPr>
        <p:spPr>
          <a:xfrm>
            <a:off x="640080" y="3337560"/>
            <a:ext cx="3749040" cy="1463040"/>
          </a:xfrm>
          <a:prstGeom prst="rect">
            <a:avLst/>
          </a:prstGeom>
          <a:noFill/>
          <a:ln/>
        </p:spPr>
        <p:txBody>
          <a:bodyPr wrap="square" rtlCol="0" anchor="ctr"/>
          <a:lstStyle/>
          <a:p>
            <a:pPr indent="0" marL="0">
              <a:buNone/>
            </a:pPr>
            <a:r>
              <a:rPr lang="en-US" sz="1200" dirty="0">
                <a:solidFill>
                  <a:srgbClr val="C9C4BC"/>
                </a:solidFill>
                <a:latin typeface="Microsoft YaHei" pitchFamily="34" charset="0"/>
                <a:ea typeface="Microsoft YaHei" pitchFamily="34" charset="-122"/>
                <a:cs typeface="Microsoft YaHei" pitchFamily="34" charset="-120"/>
              </a:rPr>
              <a:t>整套申请方案以六个月为周期展开，最大限度降低提交时出现薄弱环节的风险。里程碑围绕目标院校截止日期、申请轮次、科研产出、考试与推荐信准备来安排。</a:t>
            </a:r>
            <a:endParaRPr lang="en-US" sz="1200" dirty="0"/>
          </a:p>
        </p:txBody>
      </p:sp>
      <p:sp>
        <p:nvSpPr>
          <p:cNvPr id="8" name="Text 5"/>
          <p:cNvSpPr/>
          <p:nvPr/>
        </p:nvSpPr>
        <p:spPr>
          <a:xfrm>
            <a:off x="4709160" y="2926080"/>
            <a:ext cx="3749040" cy="365760"/>
          </a:xfrm>
          <a:prstGeom prst="rect">
            <a:avLst/>
          </a:prstGeom>
          <a:noFill/>
          <a:ln/>
        </p:spPr>
        <p:txBody>
          <a:bodyPr wrap="square" rtlCol="0" anchor="ctr"/>
          <a:lstStyle/>
          <a:p>
            <a:pPr indent="0" marL="0">
              <a:buNone/>
            </a:pPr>
            <a:r>
              <a:rPr lang="en-US" sz="1600" b="1" dirty="0">
                <a:solidFill>
                  <a:srgbClr val="D8AF71"/>
                </a:solidFill>
                <a:latin typeface="Microsoft YaHei" pitchFamily="34" charset="0"/>
                <a:ea typeface="Microsoft YaHei" pitchFamily="34" charset="-122"/>
                <a:cs typeface="Microsoft YaHei" pitchFamily="34" charset="-120"/>
              </a:rPr>
              <a:t>统筹 GRE 备考</a:t>
            </a:r>
            <a:endParaRPr lang="en-US" sz="1600" dirty="0"/>
          </a:p>
        </p:txBody>
      </p:sp>
      <p:sp>
        <p:nvSpPr>
          <p:cNvPr id="9" name="Text 6"/>
          <p:cNvSpPr/>
          <p:nvPr/>
        </p:nvSpPr>
        <p:spPr>
          <a:xfrm>
            <a:off x="4709160" y="3337560"/>
            <a:ext cx="3749040" cy="1463040"/>
          </a:xfrm>
          <a:prstGeom prst="rect">
            <a:avLst/>
          </a:prstGeom>
          <a:noFill/>
          <a:ln/>
        </p:spPr>
        <p:txBody>
          <a:bodyPr wrap="square" rtlCol="0" anchor="ctr"/>
          <a:lstStyle/>
          <a:p>
            <a:pPr indent="0" marL="0">
              <a:buNone/>
            </a:pPr>
            <a:r>
              <a:rPr lang="en-US" sz="1200" dirty="0">
                <a:solidFill>
                  <a:srgbClr val="C9C4BC"/>
                </a:solidFill>
                <a:latin typeface="Microsoft YaHei" pitchFamily="34" charset="0"/>
                <a:ea typeface="Microsoft YaHei" pitchFamily="34" charset="-122"/>
                <a:cs typeface="Microsoft YaHei" pitchFamily="34" charset="-120"/>
              </a:rPr>
              <a:t>GRE 备考被纳入整体申请路线图，而非孤立安排。日程设计力求在备考、科研推进与文书写作之间取得平衡。</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打磨学生的申请陈述</a:t>
            </a:r>
            <a:endParaRPr lang="en-US" sz="2600" dirty="0"/>
          </a:p>
        </p:txBody>
      </p:sp>
      <p:sp>
        <p:nvSpPr>
          <p:cNvPr id="4" name="Shape 2"/>
          <p:cNvSpPr/>
          <p:nvPr/>
        </p:nvSpPr>
        <p:spPr>
          <a:xfrm>
            <a:off x="502920" y="1371600"/>
            <a:ext cx="2468880" cy="1234440"/>
          </a:xfrm>
          <a:prstGeom prst="rect">
            <a:avLst/>
          </a:prstGeom>
          <a:solidFill>
            <a:srgbClr val="3D3A36"/>
          </a:solidFill>
          <a:ln/>
        </p:spPr>
      </p:sp>
      <p:pic>
        <p:nvPicPr>
          <p:cNvPr id="5" name="Image 0" descr="preencoded.png">    </p:cNvPr>
          <p:cNvPicPr>
            <a:picLocks noChangeAspect="1"/>
          </p:cNvPicPr>
          <p:nvPr/>
        </p:nvPicPr>
        <p:blipFill>
          <a:blip r:embed="rId1"/>
          <a:stretch>
            <a:fillRect/>
          </a:stretch>
        </p:blipFill>
        <p:spPr>
          <a:xfrm>
            <a:off x="1508760" y="1737360"/>
            <a:ext cx="502920" cy="502920"/>
          </a:xfrm>
          <a:prstGeom prst="rect">
            <a:avLst/>
          </a:prstGeom>
        </p:spPr>
      </p:pic>
      <p:sp>
        <p:nvSpPr>
          <p:cNvPr id="6" name="Text 3"/>
          <p:cNvSpPr/>
          <p:nvPr/>
        </p:nvSpPr>
        <p:spPr>
          <a:xfrm>
            <a:off x="502920" y="2743200"/>
            <a:ext cx="2468880" cy="502920"/>
          </a:xfrm>
          <a:prstGeom prst="rect">
            <a:avLst/>
          </a:prstGeom>
          <a:noFill/>
          <a:ln/>
        </p:spPr>
        <p:txBody>
          <a:bodyPr wrap="square" rtlCol="0" anchor="ctr"/>
          <a:lstStyle/>
          <a:p>
            <a:pPr algn="l" indent="0" marL="0">
              <a:buNone/>
            </a:pPr>
            <a:r>
              <a:rPr lang="en-US" sz="1400" b="1" dirty="0">
                <a:solidFill>
                  <a:srgbClr val="D8AF71"/>
                </a:solidFill>
                <a:latin typeface="Microsoft YaHei" pitchFamily="34" charset="0"/>
                <a:ea typeface="Microsoft YaHei" pitchFamily="34" charset="-122"/>
                <a:cs typeface="Microsoft YaHei" pitchFamily="34" charset="-120"/>
              </a:rPr>
              <a:t>搭建核心申请故事</a:t>
            </a:r>
            <a:endParaRPr lang="en-US" sz="1400" dirty="0"/>
          </a:p>
        </p:txBody>
      </p:sp>
      <p:sp>
        <p:nvSpPr>
          <p:cNvPr id="7" name="Text 4"/>
          <p:cNvSpPr/>
          <p:nvPr/>
        </p:nvSpPr>
        <p:spPr>
          <a:xfrm>
            <a:off x="502920" y="3246120"/>
            <a:ext cx="2468880" cy="1554480"/>
          </a:xfrm>
          <a:prstGeom prst="rect">
            <a:avLst/>
          </a:prstGeom>
          <a:noFill/>
          <a:ln/>
        </p:spPr>
        <p:txBody>
          <a:bodyPr wrap="square" rtlCol="0" anchor="ctr"/>
          <a:lstStyle/>
          <a:p>
            <a:pPr indent="0" marL="0">
              <a:buNone/>
            </a:pPr>
            <a:r>
              <a:rPr lang="en-US" sz="1100" dirty="0">
                <a:solidFill>
                  <a:srgbClr val="C9C4BC"/>
                </a:solidFill>
                <a:latin typeface="Microsoft YaHei" pitchFamily="34" charset="0"/>
                <a:ea typeface="Microsoft YaHei" pitchFamily="34" charset="-122"/>
                <a:cs typeface="Microsoft YaHei" pitchFamily="34" charset="-120"/>
              </a:rPr>
              <a:t>编辑团队协助学生梳理兴趣、技能、经历、个性、成就与愿景，将这些要素整理成一条连贯的叙事线，向招生官清晰传达学生与项目的契合度和潜力。</a:t>
            </a:r>
            <a:endParaRPr lang="en-US" sz="1100" dirty="0"/>
          </a:p>
        </p:txBody>
      </p:sp>
      <p:sp>
        <p:nvSpPr>
          <p:cNvPr id="8" name="Shape 5"/>
          <p:cNvSpPr/>
          <p:nvPr/>
        </p:nvSpPr>
        <p:spPr>
          <a:xfrm>
            <a:off x="3429000" y="1371600"/>
            <a:ext cx="2468880" cy="1234440"/>
          </a:xfrm>
          <a:prstGeom prst="rect">
            <a:avLst/>
          </a:prstGeom>
          <a:solidFill>
            <a:srgbClr val="3D3A36"/>
          </a:solidFill>
          <a:ln/>
        </p:spPr>
      </p:sp>
      <p:pic>
        <p:nvPicPr>
          <p:cNvPr id="9" name="Image 1" descr="preencoded.png">    </p:cNvPr>
          <p:cNvPicPr>
            <a:picLocks noChangeAspect="1"/>
          </p:cNvPicPr>
          <p:nvPr/>
        </p:nvPicPr>
        <p:blipFill>
          <a:blip r:embed="rId2"/>
          <a:stretch>
            <a:fillRect/>
          </a:stretch>
        </p:blipFill>
        <p:spPr>
          <a:xfrm>
            <a:off x="4434840" y="1737360"/>
            <a:ext cx="502920" cy="502920"/>
          </a:xfrm>
          <a:prstGeom prst="rect">
            <a:avLst/>
          </a:prstGeom>
        </p:spPr>
      </p:pic>
      <p:sp>
        <p:nvSpPr>
          <p:cNvPr id="10" name="Text 6"/>
          <p:cNvSpPr/>
          <p:nvPr/>
        </p:nvSpPr>
        <p:spPr>
          <a:xfrm>
            <a:off x="3429000" y="2743200"/>
            <a:ext cx="2468880" cy="502920"/>
          </a:xfrm>
          <a:prstGeom prst="rect">
            <a:avLst/>
          </a:prstGeom>
          <a:noFill/>
          <a:ln/>
        </p:spPr>
        <p:txBody>
          <a:bodyPr wrap="square" rtlCol="0" anchor="ctr"/>
          <a:lstStyle/>
          <a:p>
            <a:pPr algn="l" indent="0" marL="0">
              <a:buNone/>
            </a:pPr>
            <a:r>
              <a:rPr lang="en-US" sz="1400" b="1" dirty="0">
                <a:solidFill>
                  <a:srgbClr val="D8AF71"/>
                </a:solidFill>
                <a:latin typeface="Microsoft YaHei" pitchFamily="34" charset="0"/>
                <a:ea typeface="Microsoft YaHei" pitchFamily="34" charset="-122"/>
                <a:cs typeface="Microsoft YaHei" pitchFamily="34" charset="-120"/>
              </a:rPr>
              <a:t>准备文书与支撑材料</a:t>
            </a:r>
            <a:endParaRPr lang="en-US" sz="1400" dirty="0"/>
          </a:p>
        </p:txBody>
      </p:sp>
      <p:sp>
        <p:nvSpPr>
          <p:cNvPr id="11" name="Text 7"/>
          <p:cNvSpPr/>
          <p:nvPr/>
        </p:nvSpPr>
        <p:spPr>
          <a:xfrm>
            <a:off x="3429000" y="3246120"/>
            <a:ext cx="2468880" cy="1554480"/>
          </a:xfrm>
          <a:prstGeom prst="rect">
            <a:avLst/>
          </a:prstGeom>
          <a:noFill/>
          <a:ln/>
        </p:spPr>
        <p:txBody>
          <a:bodyPr wrap="square" rtlCol="0" anchor="ctr"/>
          <a:lstStyle/>
          <a:p>
            <a:pPr indent="0" marL="0">
              <a:buNone/>
            </a:pPr>
            <a:r>
              <a:rPr lang="en-US" sz="1100" dirty="0">
                <a:solidFill>
                  <a:srgbClr val="C9C4BC"/>
                </a:solidFill>
                <a:latin typeface="Microsoft YaHei" pitchFamily="34" charset="0"/>
                <a:ea typeface="Microsoft YaHei" pitchFamily="34" charset="-122"/>
                <a:cs typeface="Microsoft YaHei" pitchFamily="34" charset="-120"/>
              </a:rPr>
              <a:t>团队围绕个人陈述、院校定制文书、推荐信策略与研究陈述展开头脑风暴，每一份材料都经过设计，彼此呼应，共同呈现一致、有据可查的申请人形象。</a:t>
            </a:r>
            <a:endParaRPr lang="en-US" sz="1100" dirty="0"/>
          </a:p>
        </p:txBody>
      </p:sp>
      <p:sp>
        <p:nvSpPr>
          <p:cNvPr id="12" name="Shape 8"/>
          <p:cNvSpPr/>
          <p:nvPr/>
        </p:nvSpPr>
        <p:spPr>
          <a:xfrm>
            <a:off x="6355080" y="1371600"/>
            <a:ext cx="2468880" cy="1234440"/>
          </a:xfrm>
          <a:prstGeom prst="rect">
            <a:avLst/>
          </a:prstGeom>
          <a:solidFill>
            <a:srgbClr val="3D3A36"/>
          </a:solidFill>
          <a:ln/>
        </p:spPr>
      </p:sp>
      <p:pic>
        <p:nvPicPr>
          <p:cNvPr id="13" name="Image 2" descr="preencoded.png">    </p:cNvPr>
          <p:cNvPicPr>
            <a:picLocks noChangeAspect="1"/>
          </p:cNvPicPr>
          <p:nvPr/>
        </p:nvPicPr>
        <p:blipFill>
          <a:blip r:embed="rId3"/>
          <a:stretch>
            <a:fillRect/>
          </a:stretch>
        </p:blipFill>
        <p:spPr>
          <a:xfrm>
            <a:off x="7360920" y="1737360"/>
            <a:ext cx="502920" cy="502920"/>
          </a:xfrm>
          <a:prstGeom prst="rect">
            <a:avLst/>
          </a:prstGeom>
        </p:spPr>
      </p:pic>
      <p:sp>
        <p:nvSpPr>
          <p:cNvPr id="14" name="Text 9"/>
          <p:cNvSpPr/>
          <p:nvPr/>
        </p:nvSpPr>
        <p:spPr>
          <a:xfrm>
            <a:off x="6355080" y="2743200"/>
            <a:ext cx="2468880" cy="502920"/>
          </a:xfrm>
          <a:prstGeom prst="rect">
            <a:avLst/>
          </a:prstGeom>
          <a:noFill/>
          <a:ln/>
        </p:spPr>
        <p:txBody>
          <a:bodyPr wrap="square" rtlCol="0" anchor="ctr"/>
          <a:lstStyle/>
          <a:p>
            <a:pPr algn="l" indent="0" marL="0">
              <a:buNone/>
            </a:pPr>
            <a:r>
              <a:rPr lang="en-US" sz="1400" b="1" dirty="0">
                <a:solidFill>
                  <a:srgbClr val="D8AF71"/>
                </a:solidFill>
                <a:latin typeface="Microsoft YaHei" pitchFamily="34" charset="0"/>
                <a:ea typeface="Microsoft YaHei" pitchFamily="34" charset="-122"/>
                <a:cs typeface="Microsoft YaHei" pitchFamily="34" charset="-120"/>
              </a:rPr>
              <a:t>呈现软实力</a:t>
            </a:r>
            <a:endParaRPr lang="en-US" sz="1400" dirty="0"/>
          </a:p>
        </p:txBody>
      </p:sp>
      <p:sp>
        <p:nvSpPr>
          <p:cNvPr id="15" name="Text 10"/>
          <p:cNvSpPr/>
          <p:nvPr/>
        </p:nvSpPr>
        <p:spPr>
          <a:xfrm>
            <a:off x="6355080" y="3246120"/>
            <a:ext cx="2468880" cy="1554480"/>
          </a:xfrm>
          <a:prstGeom prst="rect">
            <a:avLst/>
          </a:prstGeom>
          <a:noFill/>
          <a:ln/>
        </p:spPr>
        <p:txBody>
          <a:bodyPr wrap="square" rtlCol="0" anchor="ctr"/>
          <a:lstStyle/>
          <a:p>
            <a:pPr indent="0" marL="0">
              <a:buNone/>
            </a:pPr>
            <a:r>
              <a:rPr lang="en-US" sz="1100" dirty="0">
                <a:solidFill>
                  <a:srgbClr val="C9C4BC"/>
                </a:solidFill>
                <a:latin typeface="Microsoft YaHei" pitchFamily="34" charset="0"/>
                <a:ea typeface="Microsoft YaHei" pitchFamily="34" charset="-122"/>
                <a:cs typeface="Microsoft YaHei" pitchFamily="34" charset="-120"/>
              </a:rPr>
              <a:t>文书写作用于体现沟通能力、适应力、思维能力、主动性、成熟度与目标感，重点放在具体、有说服力的经历，而非空泛的自我评价。</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8AF71"/>
          </a:solidFill>
          <a:ln/>
        </p:spPr>
      </p:sp>
      <p:sp>
        <p:nvSpPr>
          <p:cNvPr id="3" name="Text 1"/>
          <p:cNvSpPr/>
          <p:nvPr/>
        </p:nvSpPr>
        <p:spPr>
          <a:xfrm>
            <a:off x="822960" y="1828800"/>
            <a:ext cx="5486400" cy="457200"/>
          </a:xfrm>
          <a:prstGeom prst="rect">
            <a:avLst/>
          </a:prstGeom>
          <a:noFill/>
          <a:ln/>
        </p:spPr>
        <p:txBody>
          <a:bodyPr wrap="square" rtlCol="0" anchor="ctr"/>
          <a:lstStyle/>
          <a:p>
            <a:pPr indent="0" marL="0">
              <a:buNone/>
            </a:pPr>
            <a:r>
              <a:rPr lang="en-US" sz="2000" b="1" dirty="0">
                <a:solidFill>
                  <a:srgbClr val="D8AF71"/>
                </a:solidFill>
                <a:latin typeface="Microsoft YaHei" pitchFamily="34" charset="0"/>
                <a:ea typeface="Microsoft YaHei" pitchFamily="34" charset="-122"/>
                <a:cs typeface="Microsoft YaHei" pitchFamily="34" charset="-120"/>
              </a:rPr>
              <a:t>PART  03</a:t>
            </a:r>
            <a:endParaRPr lang="en-US" sz="2000" dirty="0"/>
          </a:p>
        </p:txBody>
      </p:sp>
      <p:sp>
        <p:nvSpPr>
          <p:cNvPr id="4" name="Text 2"/>
          <p:cNvSpPr/>
          <p:nvPr/>
        </p:nvSpPr>
        <p:spPr>
          <a:xfrm>
            <a:off x="822960" y="233172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全程支持</a:t>
            </a:r>
            <a:endParaRPr lang="en-US" sz="3200" dirty="0"/>
          </a:p>
        </p:txBody>
      </p:sp>
      <p:sp>
        <p:nvSpPr>
          <p:cNvPr id="5" name="Text 3"/>
          <p:cNvSpPr/>
          <p:nvPr/>
        </p:nvSpPr>
        <p:spPr>
          <a:xfrm>
            <a:off x="822960" y="288036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完成申请</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呈现有说服力的申请材料</a:t>
            </a:r>
            <a:endParaRPr lang="en-US" sz="2600" dirty="0"/>
          </a:p>
        </p:txBody>
      </p:sp>
      <p:sp>
        <p:nvSpPr>
          <p:cNvPr id="4" name="Shape 2"/>
          <p:cNvSpPr/>
          <p:nvPr/>
        </p:nvSpPr>
        <p:spPr>
          <a:xfrm>
            <a:off x="1417320" y="1417320"/>
            <a:ext cx="685800" cy="685800"/>
          </a:xfrm>
          <a:prstGeom prst="oval">
            <a:avLst/>
          </a:prstGeom>
          <a:solidFill>
            <a:srgbClr val="3D3A36"/>
          </a:solidFill>
          <a:ln/>
        </p:spPr>
      </p:sp>
      <p:pic>
        <p:nvPicPr>
          <p:cNvPr id="5" name="Image 0" descr="preencoded.png">    </p:cNvPr>
          <p:cNvPicPr>
            <a:picLocks noChangeAspect="1"/>
          </p:cNvPicPr>
          <p:nvPr/>
        </p:nvPicPr>
        <p:blipFill>
          <a:blip r:embed="rId1"/>
          <a:stretch>
            <a:fillRect/>
          </a:stretch>
        </p:blipFill>
        <p:spPr>
          <a:xfrm>
            <a:off x="1600200" y="1600200"/>
            <a:ext cx="320040" cy="320040"/>
          </a:xfrm>
          <a:prstGeom prst="rect">
            <a:avLst/>
          </a:prstGeom>
        </p:spPr>
      </p:pic>
      <p:sp>
        <p:nvSpPr>
          <p:cNvPr id="6" name="Text 3"/>
          <p:cNvSpPr/>
          <p:nvPr/>
        </p:nvSpPr>
        <p:spPr>
          <a:xfrm>
            <a:off x="502920" y="2240280"/>
            <a:ext cx="2468880" cy="502920"/>
          </a:xfrm>
          <a:prstGeom prst="rect">
            <a:avLst/>
          </a:prstGeom>
          <a:noFill/>
          <a:ln/>
        </p:spPr>
        <p:txBody>
          <a:bodyPr wrap="square" rtlCol="0" anchor="ctr"/>
          <a:lstStyle/>
          <a:p>
            <a:pPr algn="ctr" indent="0" marL="0">
              <a:buNone/>
            </a:pPr>
            <a:r>
              <a:rPr lang="en-US" sz="1400" b="1" dirty="0">
                <a:solidFill>
                  <a:srgbClr val="D8AF71"/>
                </a:solidFill>
                <a:latin typeface="Microsoft YaHei" pitchFamily="34" charset="0"/>
                <a:ea typeface="Microsoft YaHei" pitchFamily="34" charset="-122"/>
                <a:cs typeface="Microsoft YaHei" pitchFamily="34" charset="-120"/>
              </a:rPr>
              <a:t>撰写定制化个人陈述</a:t>
            </a:r>
            <a:endParaRPr lang="en-US" sz="1400" dirty="0"/>
          </a:p>
        </p:txBody>
      </p:sp>
      <p:sp>
        <p:nvSpPr>
          <p:cNvPr id="7" name="Text 4"/>
          <p:cNvSpPr/>
          <p:nvPr/>
        </p:nvSpPr>
        <p:spPr>
          <a:xfrm>
            <a:off x="502920" y="2743200"/>
            <a:ext cx="2468880" cy="1920240"/>
          </a:xfrm>
          <a:prstGeom prst="rect">
            <a:avLst/>
          </a:prstGeom>
          <a:noFill/>
          <a:ln/>
        </p:spPr>
        <p:txBody>
          <a:bodyPr wrap="square" rtlCol="0" anchor="ctr"/>
          <a:lstStyle/>
          <a:p>
            <a:pPr algn="ctr" indent="0" marL="0">
              <a:buNone/>
            </a:pPr>
            <a:r>
              <a:rPr lang="en-US" sz="1100" dirty="0">
                <a:solidFill>
                  <a:srgbClr val="C9C4BC"/>
                </a:solidFill>
                <a:latin typeface="Microsoft YaHei" pitchFamily="34" charset="0"/>
                <a:ea typeface="Microsoft YaHei" pitchFamily="34" charset="-122"/>
                <a:cs typeface="Microsoft YaHei" pitchFamily="34" charset="-120"/>
              </a:rPr>
              <a:t>个人陈述阐明学生的兴趣、经历、与项目的契合度，以及未来对院校和行业的预期贡献。编辑负责挖掘能体现学生成长轨迹与相关能力的经历。</a:t>
            </a:r>
            <a:endParaRPr lang="en-US" sz="1100" dirty="0"/>
          </a:p>
        </p:txBody>
      </p:sp>
      <p:sp>
        <p:nvSpPr>
          <p:cNvPr id="8" name="Shape 5"/>
          <p:cNvSpPr/>
          <p:nvPr/>
        </p:nvSpPr>
        <p:spPr>
          <a:xfrm>
            <a:off x="4343400" y="1417320"/>
            <a:ext cx="685800" cy="685800"/>
          </a:xfrm>
          <a:prstGeom prst="oval">
            <a:avLst/>
          </a:prstGeom>
          <a:solidFill>
            <a:srgbClr val="3D3A36"/>
          </a:solidFill>
          <a:ln/>
        </p:spPr>
      </p:sp>
      <p:pic>
        <p:nvPicPr>
          <p:cNvPr id="9" name="Image 1" descr="preencoded.png">    </p:cNvPr>
          <p:cNvPicPr>
            <a:picLocks noChangeAspect="1"/>
          </p:cNvPicPr>
          <p:nvPr/>
        </p:nvPicPr>
        <p:blipFill>
          <a:blip r:embed="rId2"/>
          <a:stretch>
            <a:fillRect/>
          </a:stretch>
        </p:blipFill>
        <p:spPr>
          <a:xfrm>
            <a:off x="4526280" y="1600200"/>
            <a:ext cx="320040" cy="320040"/>
          </a:xfrm>
          <a:prstGeom prst="rect">
            <a:avLst/>
          </a:prstGeom>
        </p:spPr>
      </p:pic>
      <p:sp>
        <p:nvSpPr>
          <p:cNvPr id="10" name="Text 6"/>
          <p:cNvSpPr/>
          <p:nvPr/>
        </p:nvSpPr>
        <p:spPr>
          <a:xfrm>
            <a:off x="3429000" y="2240280"/>
            <a:ext cx="2468880" cy="502920"/>
          </a:xfrm>
          <a:prstGeom prst="rect">
            <a:avLst/>
          </a:prstGeom>
          <a:noFill/>
          <a:ln/>
        </p:spPr>
        <p:txBody>
          <a:bodyPr wrap="square" rtlCol="0" anchor="ctr"/>
          <a:lstStyle/>
          <a:p>
            <a:pPr algn="ctr" indent="0" marL="0">
              <a:buNone/>
            </a:pPr>
            <a:r>
              <a:rPr lang="en-US" sz="1400" b="1" dirty="0">
                <a:solidFill>
                  <a:srgbClr val="D8AF71"/>
                </a:solidFill>
                <a:latin typeface="Microsoft YaHei" pitchFamily="34" charset="0"/>
                <a:ea typeface="Microsoft YaHei" pitchFamily="34" charset="-122"/>
                <a:cs typeface="Microsoft YaHei" pitchFamily="34" charset="-120"/>
              </a:rPr>
              <a:t>撰写院校定制文书</a:t>
            </a:r>
            <a:endParaRPr lang="en-US" sz="1400" dirty="0"/>
          </a:p>
        </p:txBody>
      </p:sp>
      <p:sp>
        <p:nvSpPr>
          <p:cNvPr id="11" name="Text 7"/>
          <p:cNvSpPr/>
          <p:nvPr/>
        </p:nvSpPr>
        <p:spPr>
          <a:xfrm>
            <a:off x="3429000" y="2743200"/>
            <a:ext cx="2468880" cy="1920240"/>
          </a:xfrm>
          <a:prstGeom prst="rect">
            <a:avLst/>
          </a:prstGeom>
          <a:noFill/>
          <a:ln/>
        </p:spPr>
        <p:txBody>
          <a:bodyPr wrap="square" rtlCol="0" anchor="ctr"/>
          <a:lstStyle/>
          <a:p>
            <a:pPr algn="ctr" indent="0" marL="0">
              <a:buNone/>
            </a:pPr>
            <a:r>
              <a:rPr lang="en-US" sz="1100" dirty="0">
                <a:solidFill>
                  <a:srgbClr val="C9C4BC"/>
                </a:solidFill>
                <a:latin typeface="Microsoft YaHei" pitchFamily="34" charset="0"/>
                <a:ea typeface="Microsoft YaHei" pitchFamily="34" charset="-122"/>
                <a:cs typeface="Microsoft YaHei" pitchFamily="34" charset="-120"/>
              </a:rPr>
              <a:t>院校定制文书需针对不同题目逐一作答，重点呈现学生的软实力、动机与在特定研究方向、学术环境中的契合度。</a:t>
            </a:r>
            <a:endParaRPr lang="en-US" sz="1100" dirty="0"/>
          </a:p>
        </p:txBody>
      </p:sp>
      <p:sp>
        <p:nvSpPr>
          <p:cNvPr id="12" name="Shape 8"/>
          <p:cNvSpPr/>
          <p:nvPr/>
        </p:nvSpPr>
        <p:spPr>
          <a:xfrm>
            <a:off x="7269480" y="1417320"/>
            <a:ext cx="685800" cy="685800"/>
          </a:xfrm>
          <a:prstGeom prst="oval">
            <a:avLst/>
          </a:prstGeom>
          <a:solidFill>
            <a:srgbClr val="3D3A36"/>
          </a:solidFill>
          <a:ln/>
        </p:spPr>
      </p:sp>
      <p:pic>
        <p:nvPicPr>
          <p:cNvPr id="13" name="Image 2" descr="preencoded.png">    </p:cNvPr>
          <p:cNvPicPr>
            <a:picLocks noChangeAspect="1"/>
          </p:cNvPicPr>
          <p:nvPr/>
        </p:nvPicPr>
        <p:blipFill>
          <a:blip r:embed="rId3"/>
          <a:stretch>
            <a:fillRect/>
          </a:stretch>
        </p:blipFill>
        <p:spPr>
          <a:xfrm>
            <a:off x="7452360" y="1600200"/>
            <a:ext cx="320040" cy="320040"/>
          </a:xfrm>
          <a:prstGeom prst="rect">
            <a:avLst/>
          </a:prstGeom>
        </p:spPr>
      </p:pic>
      <p:sp>
        <p:nvSpPr>
          <p:cNvPr id="14" name="Text 9"/>
          <p:cNvSpPr/>
          <p:nvPr/>
        </p:nvSpPr>
        <p:spPr>
          <a:xfrm>
            <a:off x="6355080" y="2240280"/>
            <a:ext cx="2468880" cy="502920"/>
          </a:xfrm>
          <a:prstGeom prst="rect">
            <a:avLst/>
          </a:prstGeom>
          <a:noFill/>
          <a:ln/>
        </p:spPr>
        <p:txBody>
          <a:bodyPr wrap="square" rtlCol="0" anchor="ctr"/>
          <a:lstStyle/>
          <a:p>
            <a:pPr algn="ctr" indent="0" marL="0">
              <a:buNone/>
            </a:pPr>
            <a:r>
              <a:rPr lang="en-US" sz="1400" b="1" dirty="0">
                <a:solidFill>
                  <a:srgbClr val="D8AF71"/>
                </a:solidFill>
                <a:latin typeface="Microsoft YaHei" pitchFamily="34" charset="0"/>
                <a:ea typeface="Microsoft YaHei" pitchFamily="34" charset="-122"/>
                <a:cs typeface="Microsoft YaHei" pitchFamily="34" charset="-120"/>
              </a:rPr>
              <a:t>获取有分量的推荐信</a:t>
            </a:r>
            <a:endParaRPr lang="en-US" sz="1400" dirty="0"/>
          </a:p>
        </p:txBody>
      </p:sp>
      <p:sp>
        <p:nvSpPr>
          <p:cNvPr id="15" name="Text 10"/>
          <p:cNvSpPr/>
          <p:nvPr/>
        </p:nvSpPr>
        <p:spPr>
          <a:xfrm>
            <a:off x="6355080" y="2743200"/>
            <a:ext cx="2468880" cy="1920240"/>
          </a:xfrm>
          <a:prstGeom prst="rect">
            <a:avLst/>
          </a:prstGeom>
          <a:noFill/>
          <a:ln/>
        </p:spPr>
        <p:txBody>
          <a:bodyPr wrap="square" rtlCol="0" anchor="ctr"/>
          <a:lstStyle/>
          <a:p>
            <a:pPr algn="ctr" indent="0" marL="0">
              <a:buNone/>
            </a:pPr>
            <a:r>
              <a:rPr lang="en-US" sz="1100" dirty="0">
                <a:solidFill>
                  <a:srgbClr val="C9C4BC"/>
                </a:solidFill>
                <a:latin typeface="Microsoft YaHei" pitchFamily="34" charset="0"/>
                <a:ea typeface="Microsoft YaHei" pitchFamily="34" charset="-122"/>
                <a:cs typeface="Microsoft YaHei" pitchFamily="34" charset="-120"/>
              </a:rPr>
              <a:t>推荐信通过可信的具体事例，佐证学生的学术与专业能力。团队会引导推荐人在恰当情境下，突出学生的思维能力、科研潜力与贡献。</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统筹资助规划与申请提交</a:t>
            </a:r>
            <a:endParaRPr lang="en-US" sz="2600" dirty="0"/>
          </a:p>
        </p:txBody>
      </p:sp>
      <p:sp>
        <p:nvSpPr>
          <p:cNvPr id="4" name="Shape 2"/>
          <p:cNvSpPr/>
          <p:nvPr/>
        </p:nvSpPr>
        <p:spPr>
          <a:xfrm>
            <a:off x="1417320" y="1371600"/>
            <a:ext cx="685800" cy="685800"/>
          </a:xfrm>
          <a:prstGeom prst="oval">
            <a:avLst/>
          </a:prstGeom>
          <a:solidFill>
            <a:srgbClr val="2E2C2A"/>
          </a:solidFill>
          <a:ln w="19050">
            <a:solidFill>
              <a:srgbClr val="D8AF71"/>
            </a:solidFill>
            <a:prstDash val="solid"/>
          </a:ln>
        </p:spPr>
      </p:sp>
      <p:pic>
        <p:nvPicPr>
          <p:cNvPr id="5" name="Image 0" descr="preencoded.png">    </p:cNvPr>
          <p:cNvPicPr>
            <a:picLocks noChangeAspect="1"/>
          </p:cNvPicPr>
          <p:nvPr/>
        </p:nvPicPr>
        <p:blipFill>
          <a:blip r:embed="rId1"/>
          <a:stretch>
            <a:fillRect/>
          </a:stretch>
        </p:blipFill>
        <p:spPr>
          <a:xfrm>
            <a:off x="1600200" y="1554480"/>
            <a:ext cx="320040" cy="320040"/>
          </a:xfrm>
          <a:prstGeom prst="rect">
            <a:avLst/>
          </a:prstGeom>
        </p:spPr>
      </p:pic>
      <p:sp>
        <p:nvSpPr>
          <p:cNvPr id="6" name="Text 3"/>
          <p:cNvSpPr/>
          <p:nvPr/>
        </p:nvSpPr>
        <p:spPr>
          <a:xfrm>
            <a:off x="502920" y="2194560"/>
            <a:ext cx="2468880" cy="365760"/>
          </a:xfrm>
          <a:prstGeom prst="rect">
            <a:avLst/>
          </a:prstGeom>
          <a:noFill/>
          <a:ln/>
        </p:spPr>
        <p:txBody>
          <a:bodyPr wrap="square" rtlCol="0" anchor="ctr"/>
          <a:lstStyle/>
          <a:p>
            <a:pPr algn="ctr" indent="0" marL="0">
              <a:buNone/>
            </a:pPr>
            <a:r>
              <a:rPr lang="en-US" sz="1400" b="1" dirty="0">
                <a:solidFill>
                  <a:srgbClr val="D8AF71"/>
                </a:solidFill>
                <a:latin typeface="Microsoft YaHei" pitchFamily="34" charset="0"/>
                <a:ea typeface="Microsoft YaHei" pitchFamily="34" charset="-122"/>
                <a:cs typeface="Microsoft YaHei" pitchFamily="34" charset="-120"/>
              </a:rPr>
              <a:t>提供奖学金协助</a:t>
            </a:r>
            <a:endParaRPr lang="en-US" sz="1400" dirty="0"/>
          </a:p>
        </p:txBody>
      </p:sp>
      <p:sp>
        <p:nvSpPr>
          <p:cNvPr id="7" name="Text 4"/>
          <p:cNvSpPr/>
          <p:nvPr/>
        </p:nvSpPr>
        <p:spPr>
          <a:xfrm>
            <a:off x="502920" y="2606040"/>
            <a:ext cx="2468880" cy="2011680"/>
          </a:xfrm>
          <a:prstGeom prst="rect">
            <a:avLst/>
          </a:prstGeom>
          <a:noFill/>
          <a:ln/>
        </p:spPr>
        <p:txBody>
          <a:bodyPr wrap="square" rtlCol="0" anchor="ctr"/>
          <a:lstStyle/>
          <a:p>
            <a:pPr algn="ctr" indent="0" marL="0">
              <a:buNone/>
            </a:pPr>
            <a:r>
              <a:rPr lang="en-US" sz="1100" dirty="0">
                <a:solidFill>
                  <a:srgbClr val="C9C4BC"/>
                </a:solidFill>
                <a:latin typeface="Microsoft YaHei" pitchFamily="34" charset="0"/>
                <a:ea typeface="Microsoft YaHei" pitchFamily="34" charset="-122"/>
                <a:cs typeface="Microsoft YaHei" pitchFamily="34" charset="-120"/>
              </a:rPr>
              <a:t>团队持续为学生与家长同步可申请的奖学金信息，降低资金压力。奖学金选项会结合申请资格、目标院校、研究契合度与整体资助策略综合评估。</a:t>
            </a:r>
            <a:endParaRPr lang="en-US" sz="1100" dirty="0"/>
          </a:p>
        </p:txBody>
      </p:sp>
      <p:sp>
        <p:nvSpPr>
          <p:cNvPr id="8" name="Shape 5"/>
          <p:cNvSpPr/>
          <p:nvPr/>
        </p:nvSpPr>
        <p:spPr>
          <a:xfrm>
            <a:off x="4343400" y="1371600"/>
            <a:ext cx="685800" cy="685800"/>
          </a:xfrm>
          <a:prstGeom prst="oval">
            <a:avLst/>
          </a:prstGeom>
          <a:solidFill>
            <a:srgbClr val="2E2C2A"/>
          </a:solidFill>
          <a:ln w="19050">
            <a:solidFill>
              <a:srgbClr val="D8AF71"/>
            </a:solidFill>
            <a:prstDash val="solid"/>
          </a:ln>
        </p:spPr>
      </p:sp>
      <p:pic>
        <p:nvPicPr>
          <p:cNvPr id="9" name="Image 1" descr="preencoded.png">    </p:cNvPr>
          <p:cNvPicPr>
            <a:picLocks noChangeAspect="1"/>
          </p:cNvPicPr>
          <p:nvPr/>
        </p:nvPicPr>
        <p:blipFill>
          <a:blip r:embed="rId2"/>
          <a:stretch>
            <a:fillRect/>
          </a:stretch>
        </p:blipFill>
        <p:spPr>
          <a:xfrm>
            <a:off x="4526280" y="1554480"/>
            <a:ext cx="320040" cy="320040"/>
          </a:xfrm>
          <a:prstGeom prst="rect">
            <a:avLst/>
          </a:prstGeom>
        </p:spPr>
      </p:pic>
      <p:sp>
        <p:nvSpPr>
          <p:cNvPr id="10" name="Text 6"/>
          <p:cNvSpPr/>
          <p:nvPr/>
        </p:nvSpPr>
        <p:spPr>
          <a:xfrm>
            <a:off x="3429000" y="2194560"/>
            <a:ext cx="2468880" cy="365760"/>
          </a:xfrm>
          <a:prstGeom prst="rect">
            <a:avLst/>
          </a:prstGeom>
          <a:noFill/>
          <a:ln/>
        </p:spPr>
        <p:txBody>
          <a:bodyPr wrap="square" rtlCol="0" anchor="ctr"/>
          <a:lstStyle/>
          <a:p>
            <a:pPr algn="ctr" indent="0" marL="0">
              <a:buNone/>
            </a:pPr>
            <a:r>
              <a:rPr lang="en-US" sz="1400" b="1" dirty="0">
                <a:solidFill>
                  <a:srgbClr val="D8AF71"/>
                </a:solidFill>
                <a:latin typeface="Microsoft YaHei" pitchFamily="34" charset="0"/>
                <a:ea typeface="Microsoft YaHei" pitchFamily="34" charset="-122"/>
                <a:cs typeface="Microsoft YaHei" pitchFamily="34" charset="-120"/>
              </a:rPr>
              <a:t>资金规划</a:t>
            </a:r>
            <a:endParaRPr lang="en-US" sz="1400" dirty="0"/>
          </a:p>
        </p:txBody>
      </p:sp>
      <p:sp>
        <p:nvSpPr>
          <p:cNvPr id="11" name="Text 7"/>
          <p:cNvSpPr/>
          <p:nvPr/>
        </p:nvSpPr>
        <p:spPr>
          <a:xfrm>
            <a:off x="3429000" y="2606040"/>
            <a:ext cx="2468880" cy="2011680"/>
          </a:xfrm>
          <a:prstGeom prst="rect">
            <a:avLst/>
          </a:prstGeom>
          <a:noFill/>
          <a:ln/>
        </p:spPr>
        <p:txBody>
          <a:bodyPr wrap="square" rtlCol="0" anchor="ctr"/>
          <a:lstStyle/>
          <a:p>
            <a:pPr algn="ctr" indent="0" marL="0">
              <a:buNone/>
            </a:pPr>
            <a:r>
              <a:rPr lang="en-US" sz="1100" dirty="0">
                <a:solidFill>
                  <a:srgbClr val="C9C4BC"/>
                </a:solidFill>
                <a:latin typeface="Microsoft YaHei" pitchFamily="34" charset="0"/>
                <a:ea typeface="Microsoft YaHei" pitchFamily="34" charset="-122"/>
                <a:cs typeface="Microsoft YaHei" pitchFamily="34" charset="-120"/>
              </a:rPr>
              <a:t>资金规划是留学整体规划中的关键环节。顾问团队协助家庭系统梳理学费、生活费等预期支出，做好财务准备。</a:t>
            </a:r>
            <a:endParaRPr lang="en-US" sz="1100" dirty="0"/>
          </a:p>
        </p:txBody>
      </p:sp>
      <p:sp>
        <p:nvSpPr>
          <p:cNvPr id="12" name="Shape 8"/>
          <p:cNvSpPr/>
          <p:nvPr/>
        </p:nvSpPr>
        <p:spPr>
          <a:xfrm>
            <a:off x="7269480" y="1371600"/>
            <a:ext cx="685800" cy="685800"/>
          </a:xfrm>
          <a:prstGeom prst="oval">
            <a:avLst/>
          </a:prstGeom>
          <a:solidFill>
            <a:srgbClr val="2E2C2A"/>
          </a:solidFill>
          <a:ln w="19050">
            <a:solidFill>
              <a:srgbClr val="D8AF71"/>
            </a:solidFill>
            <a:prstDash val="solid"/>
          </a:ln>
        </p:spPr>
      </p:sp>
      <p:pic>
        <p:nvPicPr>
          <p:cNvPr id="13" name="Image 2" descr="preencoded.png">    </p:cNvPr>
          <p:cNvPicPr>
            <a:picLocks noChangeAspect="1"/>
          </p:cNvPicPr>
          <p:nvPr/>
        </p:nvPicPr>
        <p:blipFill>
          <a:blip r:embed="rId3"/>
          <a:stretch>
            <a:fillRect/>
          </a:stretch>
        </p:blipFill>
        <p:spPr>
          <a:xfrm>
            <a:off x="7452360" y="1554480"/>
            <a:ext cx="320040" cy="320040"/>
          </a:xfrm>
          <a:prstGeom prst="rect">
            <a:avLst/>
          </a:prstGeom>
        </p:spPr>
      </p:pic>
      <p:sp>
        <p:nvSpPr>
          <p:cNvPr id="14" name="Text 9"/>
          <p:cNvSpPr/>
          <p:nvPr/>
        </p:nvSpPr>
        <p:spPr>
          <a:xfrm>
            <a:off x="6355080" y="2194560"/>
            <a:ext cx="2468880" cy="365760"/>
          </a:xfrm>
          <a:prstGeom prst="rect">
            <a:avLst/>
          </a:prstGeom>
          <a:noFill/>
          <a:ln/>
        </p:spPr>
        <p:txBody>
          <a:bodyPr wrap="square" rtlCol="0" anchor="ctr"/>
          <a:lstStyle/>
          <a:p>
            <a:pPr algn="ctr" indent="0" marL="0">
              <a:buNone/>
            </a:pPr>
            <a:r>
              <a:rPr lang="en-US" sz="1400" b="1" dirty="0">
                <a:solidFill>
                  <a:srgbClr val="D8AF71"/>
                </a:solidFill>
                <a:latin typeface="Microsoft YaHei" pitchFamily="34" charset="0"/>
                <a:ea typeface="Microsoft YaHei" pitchFamily="34" charset="-122"/>
                <a:cs typeface="Microsoft YaHei" pitchFamily="34" charset="-120"/>
              </a:rPr>
              <a:t>材料审核与提交</a:t>
            </a:r>
            <a:endParaRPr lang="en-US" sz="1400" dirty="0"/>
          </a:p>
        </p:txBody>
      </p:sp>
      <p:sp>
        <p:nvSpPr>
          <p:cNvPr id="15" name="Text 10"/>
          <p:cNvSpPr/>
          <p:nvPr/>
        </p:nvSpPr>
        <p:spPr>
          <a:xfrm>
            <a:off x="6355080" y="2606040"/>
            <a:ext cx="2468880" cy="2011680"/>
          </a:xfrm>
          <a:prstGeom prst="rect">
            <a:avLst/>
          </a:prstGeom>
          <a:noFill/>
          <a:ln/>
        </p:spPr>
        <p:txBody>
          <a:bodyPr wrap="square" rtlCol="0" anchor="ctr"/>
          <a:lstStyle/>
          <a:p>
            <a:pPr algn="ctr" indent="0" marL="0">
              <a:buNone/>
            </a:pPr>
            <a:r>
              <a:rPr lang="en-US" sz="1100" dirty="0">
                <a:solidFill>
                  <a:srgbClr val="C9C4BC"/>
                </a:solidFill>
                <a:latin typeface="Microsoft YaHei" pitchFamily="34" charset="0"/>
                <a:ea typeface="Microsoft YaHei" pitchFamily="34" charset="-122"/>
                <a:cs typeface="Microsoft YaHei" pitchFamily="34" charset="-120"/>
              </a:rPr>
              <a:t>顾问协助完成申请材料准备、审核与提交，包括银行流水、成绩单、院校沟通及各类程序性事务，并在提交前对最终材料的准确性与完整性进行复核。</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备战最终录取环节</a:t>
            </a:r>
            <a:endParaRPr lang="en-US" sz="2600" dirty="0"/>
          </a:p>
        </p:txBody>
      </p:sp>
      <p:sp>
        <p:nvSpPr>
          <p:cNvPr id="4" name="Shape 2"/>
          <p:cNvSpPr/>
          <p:nvPr/>
        </p:nvSpPr>
        <p:spPr>
          <a:xfrm>
            <a:off x="640080" y="1463040"/>
            <a:ext cx="3749040" cy="777240"/>
          </a:xfrm>
          <a:prstGeom prst="rect">
            <a:avLst/>
          </a:prstGeom>
          <a:solidFill>
            <a:srgbClr val="D8AF71"/>
          </a:solidFill>
          <a:ln/>
        </p:spPr>
      </p:sp>
      <p:pic>
        <p:nvPicPr>
          <p:cNvPr id="5" name="Image 0" descr="preencoded.png">    </p:cNvPr>
          <p:cNvPicPr>
            <a:picLocks noChangeAspect="1"/>
          </p:cNvPicPr>
          <p:nvPr/>
        </p:nvPicPr>
        <p:blipFill>
          <a:blip r:embed="rId1"/>
          <a:stretch>
            <a:fillRect/>
          </a:stretch>
        </p:blipFill>
        <p:spPr>
          <a:xfrm>
            <a:off x="914400" y="1627632"/>
            <a:ext cx="457200" cy="457200"/>
          </a:xfrm>
          <a:prstGeom prst="rect">
            <a:avLst/>
          </a:prstGeom>
        </p:spPr>
      </p:pic>
      <p:sp>
        <p:nvSpPr>
          <p:cNvPr id="6" name="Text 3"/>
          <p:cNvSpPr/>
          <p:nvPr/>
        </p:nvSpPr>
        <p:spPr>
          <a:xfrm>
            <a:off x="1554480" y="1463040"/>
            <a:ext cx="2743200" cy="777240"/>
          </a:xfrm>
          <a:prstGeom prst="rect">
            <a:avLst/>
          </a:prstGeom>
          <a:noFill/>
          <a:ln/>
        </p:spPr>
        <p:txBody>
          <a:bodyPr wrap="square" rtlCol="0" anchor="ctr"/>
          <a:lstStyle/>
          <a:p>
            <a:pPr indent="0" marL="0">
              <a:buNone/>
            </a:pPr>
            <a:r>
              <a:rPr lang="en-US" sz="1600" b="1" dirty="0">
                <a:solidFill>
                  <a:srgbClr val="262421"/>
                </a:solidFill>
                <a:latin typeface="Microsoft YaHei" pitchFamily="34" charset="0"/>
                <a:ea typeface="Microsoft YaHei" pitchFamily="34" charset="-122"/>
                <a:cs typeface="Microsoft YaHei" pitchFamily="34" charset="-120"/>
              </a:rPr>
              <a:t>面试辅导</a:t>
            </a:r>
            <a:endParaRPr lang="en-US" sz="1600" dirty="0"/>
          </a:p>
        </p:txBody>
      </p:sp>
      <p:sp>
        <p:nvSpPr>
          <p:cNvPr id="7" name="Shape 4"/>
          <p:cNvSpPr/>
          <p:nvPr/>
        </p:nvSpPr>
        <p:spPr>
          <a:xfrm>
            <a:off x="640080" y="2240280"/>
            <a:ext cx="3749040" cy="1828800"/>
          </a:xfrm>
          <a:prstGeom prst="rect">
            <a:avLst/>
          </a:prstGeom>
          <a:solidFill>
            <a:srgbClr val="3D3A36"/>
          </a:solidFill>
          <a:ln/>
        </p:spPr>
      </p:sp>
      <p:sp>
        <p:nvSpPr>
          <p:cNvPr id="8" name="Text 5"/>
          <p:cNvSpPr/>
          <p:nvPr/>
        </p:nvSpPr>
        <p:spPr>
          <a:xfrm>
            <a:off x="914400" y="2423160"/>
            <a:ext cx="3200400" cy="1463040"/>
          </a:xfrm>
          <a:prstGeom prst="rect">
            <a:avLst/>
          </a:prstGeom>
          <a:noFill/>
          <a:ln/>
        </p:spPr>
        <p:txBody>
          <a:bodyPr wrap="square" rtlCol="0" anchor="ctr"/>
          <a:lstStyle/>
          <a:p>
            <a:pPr indent="0" marL="0">
              <a:buNone/>
            </a:pPr>
            <a:r>
              <a:rPr lang="en-US" sz="1200" dirty="0">
                <a:solidFill>
                  <a:srgbClr val="C9C4BC"/>
                </a:solidFill>
                <a:latin typeface="Microsoft YaHei" pitchFamily="34" charset="0"/>
                <a:ea typeface="Microsoft YaHei" pitchFamily="34" charset="-122"/>
                <a:cs typeface="Microsoft YaHei" pitchFamily="34" charset="-120"/>
              </a:rPr>
              <a:t>如项目要求面试，学生将与专业团队进行模拟演练，重点训练简洁清晰的表达、自信的沟通、恰当的语气，以及不夸大其词地呈现自身优势的能力。</a:t>
            </a:r>
            <a:endParaRPr lang="en-US" sz="1200" dirty="0"/>
          </a:p>
        </p:txBody>
      </p:sp>
      <p:sp>
        <p:nvSpPr>
          <p:cNvPr id="9" name="Shape 6"/>
          <p:cNvSpPr/>
          <p:nvPr/>
        </p:nvSpPr>
        <p:spPr>
          <a:xfrm>
            <a:off x="4709160" y="1463040"/>
            <a:ext cx="3749040" cy="777240"/>
          </a:xfrm>
          <a:prstGeom prst="rect">
            <a:avLst/>
          </a:prstGeom>
          <a:solidFill>
            <a:srgbClr val="D8AF71"/>
          </a:solidFill>
          <a:ln/>
        </p:spPr>
      </p:sp>
      <p:pic>
        <p:nvPicPr>
          <p:cNvPr id="10" name="Image 1" descr="preencoded.png">    </p:cNvPr>
          <p:cNvPicPr>
            <a:picLocks noChangeAspect="1"/>
          </p:cNvPicPr>
          <p:nvPr/>
        </p:nvPicPr>
        <p:blipFill>
          <a:blip r:embed="rId2"/>
          <a:stretch>
            <a:fillRect/>
          </a:stretch>
        </p:blipFill>
        <p:spPr>
          <a:xfrm>
            <a:off x="4983480" y="1627632"/>
            <a:ext cx="457200" cy="457200"/>
          </a:xfrm>
          <a:prstGeom prst="rect">
            <a:avLst/>
          </a:prstGeom>
        </p:spPr>
      </p:pic>
      <p:sp>
        <p:nvSpPr>
          <p:cNvPr id="11" name="Text 7"/>
          <p:cNvSpPr/>
          <p:nvPr/>
        </p:nvSpPr>
        <p:spPr>
          <a:xfrm>
            <a:off x="5623560" y="1463040"/>
            <a:ext cx="2743200" cy="777240"/>
          </a:xfrm>
          <a:prstGeom prst="rect">
            <a:avLst/>
          </a:prstGeom>
          <a:noFill/>
          <a:ln/>
        </p:spPr>
        <p:txBody>
          <a:bodyPr wrap="square" rtlCol="0" anchor="ctr"/>
          <a:lstStyle/>
          <a:p>
            <a:pPr indent="0" marL="0">
              <a:buNone/>
            </a:pPr>
            <a:r>
              <a:rPr lang="en-US" sz="1600" b="1" dirty="0">
                <a:solidFill>
                  <a:srgbClr val="262421"/>
                </a:solidFill>
                <a:latin typeface="Microsoft YaHei" pitchFamily="34" charset="0"/>
                <a:ea typeface="Microsoft YaHei" pitchFamily="34" charset="-122"/>
                <a:cs typeface="Microsoft YaHei" pitchFamily="34" charset="-120"/>
              </a:rPr>
              <a:t>行前指导</a:t>
            </a:r>
            <a:endParaRPr lang="en-US" sz="1600" dirty="0"/>
          </a:p>
        </p:txBody>
      </p:sp>
      <p:sp>
        <p:nvSpPr>
          <p:cNvPr id="12" name="Shape 8"/>
          <p:cNvSpPr/>
          <p:nvPr/>
        </p:nvSpPr>
        <p:spPr>
          <a:xfrm>
            <a:off x="4709160" y="2240280"/>
            <a:ext cx="3749040" cy="1828800"/>
          </a:xfrm>
          <a:prstGeom prst="rect">
            <a:avLst/>
          </a:prstGeom>
          <a:solidFill>
            <a:srgbClr val="3D3A36"/>
          </a:solidFill>
          <a:ln/>
        </p:spPr>
      </p:sp>
      <p:sp>
        <p:nvSpPr>
          <p:cNvPr id="13" name="Text 9"/>
          <p:cNvSpPr/>
          <p:nvPr/>
        </p:nvSpPr>
        <p:spPr>
          <a:xfrm>
            <a:off x="4983480" y="2423160"/>
            <a:ext cx="3200400" cy="1463040"/>
          </a:xfrm>
          <a:prstGeom prst="rect">
            <a:avLst/>
          </a:prstGeom>
          <a:noFill/>
          <a:ln/>
        </p:spPr>
        <p:txBody>
          <a:bodyPr wrap="square" rtlCol="0" anchor="ctr"/>
          <a:lstStyle/>
          <a:p>
            <a:pPr indent="0" marL="0">
              <a:buNone/>
            </a:pPr>
            <a:r>
              <a:rPr lang="en-US" sz="1200" dirty="0">
                <a:solidFill>
                  <a:srgbClr val="C9C4BC"/>
                </a:solidFill>
                <a:latin typeface="Microsoft YaHei" pitchFamily="34" charset="0"/>
                <a:ea typeface="Microsoft YaHei" pitchFamily="34" charset="-122"/>
                <a:cs typeface="Microsoft YaHei" pitchFamily="34" charset="-120"/>
              </a:rPr>
              <a:t>行前指导帮助学生为独立的海外生活做好准备，内容涵盖跨文化适应、日常生活安排、健康与旅行保险、财务事项、签证与入学要求等。</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D8AF71"/>
          </a:solidFill>
          <a:ln/>
        </p:spPr>
      </p:sp>
      <p:sp>
        <p:nvSpPr>
          <p:cNvPr id="3" name="Text 1"/>
          <p:cNvSpPr/>
          <p:nvPr/>
        </p:nvSpPr>
        <p:spPr>
          <a:xfrm>
            <a:off x="822960" y="1828800"/>
            <a:ext cx="5486400" cy="457200"/>
          </a:xfrm>
          <a:prstGeom prst="rect">
            <a:avLst/>
          </a:prstGeom>
          <a:noFill/>
          <a:ln/>
        </p:spPr>
        <p:txBody>
          <a:bodyPr wrap="square" rtlCol="0" anchor="ctr"/>
          <a:lstStyle/>
          <a:p>
            <a:pPr indent="0" marL="0">
              <a:buNone/>
            </a:pPr>
            <a:r>
              <a:rPr lang="en-US" sz="2000" b="1" dirty="0">
                <a:solidFill>
                  <a:srgbClr val="D8AF71"/>
                </a:solidFill>
                <a:latin typeface="Microsoft YaHei" pitchFamily="34" charset="0"/>
                <a:ea typeface="Microsoft YaHei" pitchFamily="34" charset="-122"/>
                <a:cs typeface="Microsoft YaHei" pitchFamily="34" charset="-120"/>
              </a:rPr>
              <a:t>PART  04</a:t>
            </a:r>
            <a:endParaRPr lang="en-US" sz="2000" dirty="0"/>
          </a:p>
        </p:txBody>
      </p:sp>
      <p:sp>
        <p:nvSpPr>
          <p:cNvPr id="4" name="Text 2"/>
          <p:cNvSpPr/>
          <p:nvPr/>
        </p:nvSpPr>
        <p:spPr>
          <a:xfrm>
            <a:off x="822960" y="233172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规划投入与</a:t>
            </a:r>
            <a:endParaRPr lang="en-US" sz="3200" dirty="0"/>
          </a:p>
        </p:txBody>
      </p:sp>
      <p:sp>
        <p:nvSpPr>
          <p:cNvPr id="5" name="Text 3"/>
          <p:cNvSpPr/>
          <p:nvPr/>
        </p:nvSpPr>
        <p:spPr>
          <a:xfrm>
            <a:off x="822960" y="2880360"/>
            <a:ext cx="6858000" cy="548640"/>
          </a:xfrm>
          <a:prstGeom prst="rect">
            <a:avLst/>
          </a:prstGeom>
          <a:noFill/>
          <a:ln/>
        </p:spPr>
        <p:txBody>
          <a:bodyPr wrap="square" rtlCol="0" anchor="ctr"/>
          <a:lstStyle/>
          <a:p>
            <a:pPr indent="0" marL="0">
              <a:buNone/>
            </a:pPr>
            <a:r>
              <a:rPr lang="en-US" sz="3200" b="1" dirty="0">
                <a:solidFill>
                  <a:srgbClr val="FFFFFF"/>
                </a:solidFill>
                <a:latin typeface="Microsoft YaHei" pitchFamily="34" charset="0"/>
                <a:ea typeface="Microsoft YaHei" pitchFamily="34" charset="-122"/>
                <a:cs typeface="Microsoft YaHei" pitchFamily="34" charset="-120"/>
              </a:rPr>
              <a:t>下一步</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明确 2027 年秋季入学申请范围</a:t>
            </a:r>
            <a:endParaRPr lang="en-US" sz="2600" dirty="0"/>
          </a:p>
        </p:txBody>
      </p:sp>
      <p:sp>
        <p:nvSpPr>
          <p:cNvPr id="4" name="Shape 2"/>
          <p:cNvSpPr/>
          <p:nvPr/>
        </p:nvSpPr>
        <p:spPr>
          <a:xfrm>
            <a:off x="640080" y="1554480"/>
            <a:ext cx="2103120" cy="2103120"/>
          </a:xfrm>
          <a:prstGeom prst="oval">
            <a:avLst/>
          </a:prstGeom>
          <a:solidFill>
            <a:srgbClr val="3D3A36"/>
          </a:solidFill>
          <a:ln/>
        </p:spPr>
      </p:sp>
      <p:pic>
        <p:nvPicPr>
          <p:cNvPr id="5" name="Image 0" descr="preencoded.png">    </p:cNvPr>
          <p:cNvPicPr>
            <a:picLocks noChangeAspect="1"/>
          </p:cNvPicPr>
          <p:nvPr/>
        </p:nvPicPr>
        <p:blipFill>
          <a:blip r:embed="rId1"/>
          <a:stretch>
            <a:fillRect/>
          </a:stretch>
        </p:blipFill>
        <p:spPr>
          <a:xfrm>
            <a:off x="1234440" y="2148840"/>
            <a:ext cx="914400" cy="914400"/>
          </a:xfrm>
          <a:prstGeom prst="rect">
            <a:avLst/>
          </a:prstGeom>
        </p:spPr>
      </p:pic>
      <p:sp>
        <p:nvSpPr>
          <p:cNvPr id="6" name="Text 3"/>
          <p:cNvSpPr/>
          <p:nvPr/>
        </p:nvSpPr>
        <p:spPr>
          <a:xfrm>
            <a:off x="3108960" y="1463040"/>
            <a:ext cx="5532120" cy="411480"/>
          </a:xfrm>
          <a:prstGeom prst="rect">
            <a:avLst/>
          </a:prstGeom>
          <a:noFill/>
          <a:ln/>
        </p:spPr>
        <p:txBody>
          <a:bodyPr wrap="square" rtlCol="0" anchor="ctr"/>
          <a:lstStyle/>
          <a:p>
            <a:pPr indent="0" marL="0">
              <a:buNone/>
            </a:pPr>
            <a:r>
              <a:rPr lang="en-US" sz="1600" b="1" dirty="0">
                <a:solidFill>
                  <a:srgbClr val="D8AF71"/>
                </a:solidFill>
                <a:latin typeface="Microsoft YaHei" pitchFamily="34" charset="0"/>
                <a:ea typeface="Microsoft YaHei" pitchFamily="34" charset="-122"/>
                <a:cs typeface="Microsoft YaHei" pitchFamily="34" charset="-120"/>
              </a:rPr>
              <a:t>确认目标申请路径</a:t>
            </a:r>
            <a:endParaRPr lang="en-US" sz="1600" dirty="0"/>
          </a:p>
        </p:txBody>
      </p:sp>
      <p:sp>
        <p:nvSpPr>
          <p:cNvPr id="7" name="Text 4"/>
          <p:cNvSpPr/>
          <p:nvPr/>
        </p:nvSpPr>
        <p:spPr>
          <a:xfrm>
            <a:off x="3108960" y="1920240"/>
            <a:ext cx="5532120" cy="1097280"/>
          </a:xfrm>
          <a:prstGeom prst="rect">
            <a:avLst/>
          </a:prstGeom>
          <a:noFill/>
          <a:ln/>
        </p:spPr>
        <p:txBody>
          <a:bodyPr wrap="square" rtlCol="0" anchor="ctr"/>
          <a:lstStyle/>
          <a:p>
            <a:pPr indent="0" marL="0">
              <a:buNone/>
            </a:pPr>
            <a:r>
              <a:rPr lang="en-US" sz="1300" dirty="0">
                <a:solidFill>
                  <a:srgbClr val="C9C4BC"/>
                </a:solidFill>
                <a:latin typeface="Microsoft YaHei" pitchFamily="34" charset="0"/>
                <a:ea typeface="Microsoft YaHei" pitchFamily="34" charset="-122"/>
                <a:cs typeface="Microsoft YaHei" pitchFamily="34" charset="-120"/>
              </a:rPr>
              <a:t>本项目支持 2027 年秋季入学的博士（PhD）申请。目标国家/地区包括美国、德国及其他根据学术契合度、资助情况、科研机会与经济可负担性综合确定的国家。</a:t>
            </a:r>
            <a:endParaRPr lang="en-US" sz="1300" dirty="0"/>
          </a:p>
        </p:txBody>
      </p:sp>
      <p:sp>
        <p:nvSpPr>
          <p:cNvPr id="8" name="Text 5"/>
          <p:cNvSpPr/>
          <p:nvPr/>
        </p:nvSpPr>
        <p:spPr>
          <a:xfrm>
            <a:off x="3108960" y="3200400"/>
            <a:ext cx="5532120" cy="411480"/>
          </a:xfrm>
          <a:prstGeom prst="rect">
            <a:avLst/>
          </a:prstGeom>
          <a:noFill/>
          <a:ln/>
        </p:spPr>
        <p:txBody>
          <a:bodyPr wrap="square" rtlCol="0" anchor="ctr"/>
          <a:lstStyle/>
          <a:p>
            <a:pPr indent="0" marL="0">
              <a:buNone/>
            </a:pPr>
            <a:r>
              <a:rPr lang="en-US" sz="1600" b="1" dirty="0">
                <a:solidFill>
                  <a:srgbClr val="D8AF71"/>
                </a:solidFill>
                <a:latin typeface="Microsoft YaHei" pitchFamily="34" charset="0"/>
                <a:ea typeface="Microsoft YaHei" pitchFamily="34" charset="-122"/>
                <a:cs typeface="Microsoft YaHei" pitchFamily="34" charset="-120"/>
              </a:rPr>
              <a:t>设定合理的结果预期</a:t>
            </a:r>
            <a:endParaRPr lang="en-US" sz="1600" dirty="0"/>
          </a:p>
        </p:txBody>
      </p:sp>
      <p:sp>
        <p:nvSpPr>
          <p:cNvPr id="9" name="Text 6"/>
          <p:cNvSpPr/>
          <p:nvPr/>
        </p:nvSpPr>
        <p:spPr>
          <a:xfrm>
            <a:off x="3108960" y="3657600"/>
            <a:ext cx="5532120" cy="1097280"/>
          </a:xfrm>
          <a:prstGeom prst="rect">
            <a:avLst/>
          </a:prstGeom>
          <a:noFill/>
          <a:ln/>
        </p:spPr>
        <p:txBody>
          <a:bodyPr wrap="square" rtlCol="0" anchor="ctr"/>
          <a:lstStyle/>
          <a:p>
            <a:pPr indent="0" marL="0">
              <a:buNone/>
            </a:pPr>
            <a:r>
              <a:rPr lang="en-US" sz="1300" dirty="0">
                <a:solidFill>
                  <a:srgbClr val="C9C4BC"/>
                </a:solidFill>
                <a:latin typeface="Microsoft YaHei" pitchFamily="34" charset="0"/>
                <a:ea typeface="Microsoft YaHei" pitchFamily="34" charset="-122"/>
                <a:cs typeface="Microsoft YaHei" pitchFamily="34" charset="-120"/>
              </a:rPr>
              <a:t>整个流程旨在让学生从背景评估到最终入学的过渡更加顺畅、更加高效。最终的目标院校与资助结果，取决于学生自身背景、竞争力以及路线图的执行情况。</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320040"/>
            <a:ext cx="164592" cy="640080"/>
          </a:xfrm>
          <a:prstGeom prst="rect">
            <a:avLst/>
          </a:prstGeom>
          <a:solidFill>
            <a:srgbClr val="D8AF71"/>
          </a:solidFill>
          <a:ln/>
        </p:spPr>
      </p:sp>
      <p:sp>
        <p:nvSpPr>
          <p:cNvPr id="3" name="Text 1"/>
          <p:cNvSpPr/>
          <p:nvPr/>
        </p:nvSpPr>
        <p:spPr>
          <a:xfrm>
            <a:off x="411480" y="320040"/>
            <a:ext cx="8229600" cy="640080"/>
          </a:xfrm>
          <a:prstGeom prst="rect">
            <a:avLst/>
          </a:prstGeom>
          <a:noFill/>
          <a:ln/>
        </p:spPr>
        <p:txBody>
          <a:bodyPr wrap="square" rtlCol="0" anchor="ctr"/>
          <a:lstStyle/>
          <a:p>
            <a:pPr indent="0" marL="0">
              <a:buNone/>
            </a:pPr>
            <a:r>
              <a:rPr lang="en-US" sz="2600" b="1" dirty="0">
                <a:solidFill>
                  <a:srgbClr val="E8CFA0"/>
                </a:solidFill>
                <a:latin typeface="Microsoft YaHei" pitchFamily="34" charset="0"/>
                <a:ea typeface="Microsoft YaHei" pitchFamily="34" charset="-122"/>
                <a:cs typeface="Microsoft YaHei" pitchFamily="34" charset="-120"/>
              </a:rPr>
              <a:t>了解服务费用与除外事项</a:t>
            </a:r>
            <a:endParaRPr lang="en-US" sz="2600" dirty="0"/>
          </a:p>
        </p:txBody>
      </p:sp>
      <p:sp>
        <p:nvSpPr>
          <p:cNvPr id="4" name="Shape 2"/>
          <p:cNvSpPr/>
          <p:nvPr/>
        </p:nvSpPr>
        <p:spPr>
          <a:xfrm>
            <a:off x="640080" y="1417320"/>
            <a:ext cx="3749040" cy="91440"/>
          </a:xfrm>
          <a:prstGeom prst="rect">
            <a:avLst/>
          </a:prstGeom>
          <a:solidFill>
            <a:srgbClr val="D8AF71"/>
          </a:solidFill>
          <a:ln/>
        </p:spPr>
      </p:sp>
      <p:sp>
        <p:nvSpPr>
          <p:cNvPr id="5" name="Shape 3"/>
          <p:cNvSpPr/>
          <p:nvPr/>
        </p:nvSpPr>
        <p:spPr>
          <a:xfrm>
            <a:off x="640080" y="1508760"/>
            <a:ext cx="3749040" cy="30632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6" name="Text 4"/>
          <p:cNvSpPr/>
          <p:nvPr/>
        </p:nvSpPr>
        <p:spPr>
          <a:xfrm>
            <a:off x="914400" y="1828800"/>
            <a:ext cx="3200400" cy="640080"/>
          </a:xfrm>
          <a:prstGeom prst="rect">
            <a:avLst/>
          </a:prstGeom>
          <a:noFill/>
          <a:ln/>
        </p:spPr>
        <p:txBody>
          <a:bodyPr wrap="square" rtlCol="0" anchor="ctr"/>
          <a:lstStyle/>
          <a:p>
            <a:pPr algn="ctr" indent="0" marL="0">
              <a:buNone/>
            </a:pPr>
            <a:r>
              <a:rPr lang="en-US" sz="1500" b="1" dirty="0">
                <a:solidFill>
                  <a:srgbClr val="262421"/>
                </a:solidFill>
                <a:latin typeface="Microsoft YaHei" pitchFamily="34" charset="0"/>
                <a:ea typeface="Microsoft YaHei" pitchFamily="34" charset="-122"/>
                <a:cs typeface="Microsoft YaHei" pitchFamily="34" charset="-120"/>
              </a:rPr>
              <a:t>了解咨询服务投入</a:t>
            </a:r>
            <a:endParaRPr lang="en-US" sz="1500" dirty="0"/>
          </a:p>
        </p:txBody>
      </p:sp>
      <p:sp>
        <p:nvSpPr>
          <p:cNvPr id="7" name="Text 5"/>
          <p:cNvSpPr/>
          <p:nvPr/>
        </p:nvSpPr>
        <p:spPr>
          <a:xfrm>
            <a:off x="914400" y="2560320"/>
            <a:ext cx="3200400" cy="1828800"/>
          </a:xfrm>
          <a:prstGeom prst="rect">
            <a:avLst/>
          </a:prstGeom>
          <a:noFill/>
          <a:ln/>
        </p:spPr>
        <p:txBody>
          <a:bodyPr wrap="square" rtlCol="0" anchor="ctr"/>
          <a:lstStyle/>
          <a:p>
            <a:pPr algn="l" indent="0" marL="0">
              <a:buNone/>
            </a:pPr>
            <a:r>
              <a:rPr lang="en-US" sz="1200" dirty="0">
                <a:solidFill>
                  <a:srgbClr val="6B6560"/>
                </a:solidFill>
                <a:latin typeface="Microsoft YaHei" pitchFamily="34" charset="0"/>
                <a:ea typeface="Microsoft YaHei" pitchFamily="34" charset="-122"/>
                <a:cs typeface="Microsoft YaHei" pitchFamily="34" charset="-120"/>
              </a:rPr>
              <a:t>申请咨询项目费用为 US$10,000，具体以个案评估结果为准。</a:t>
            </a:r>
            <a:endParaRPr lang="en-US" sz="1200" dirty="0"/>
          </a:p>
          <a:p>
            <a:pPr algn="l" indent="0" marL="0">
              <a:buNone/>
            </a:pPr>
            <a:endParaRPr lang="en-US" sz="1200" dirty="0"/>
          </a:p>
          <a:p>
            <a:pPr algn="l" indent="0" marL="0">
              <a:buNone/>
            </a:pPr>
            <a:r>
              <a:rPr lang="en-US" sz="1200" dirty="0">
                <a:solidFill>
                  <a:srgbClr val="6B6560"/>
                </a:solidFill>
                <a:latin typeface="Microsoft YaHei" pitchFamily="34" charset="0"/>
                <a:ea typeface="Microsoft YaHei" pitchFamily="34" charset="-122"/>
                <a:cs typeface="Microsoft YaHei" pitchFamily="34" charset="-120"/>
              </a:rPr>
              <a:t>GRE 备考辅导单独收费，为 US$2,500，整体投入将根据学生的具体需求确定。</a:t>
            </a:r>
            <a:endParaRPr lang="en-US" sz="1200" dirty="0"/>
          </a:p>
        </p:txBody>
      </p:sp>
      <p:sp>
        <p:nvSpPr>
          <p:cNvPr id="8" name="Shape 6"/>
          <p:cNvSpPr/>
          <p:nvPr/>
        </p:nvSpPr>
        <p:spPr>
          <a:xfrm>
            <a:off x="4709160" y="1417320"/>
            <a:ext cx="3749040" cy="91440"/>
          </a:xfrm>
          <a:prstGeom prst="rect">
            <a:avLst/>
          </a:prstGeom>
          <a:solidFill>
            <a:srgbClr val="D8AF71"/>
          </a:solidFill>
          <a:ln/>
        </p:spPr>
      </p:sp>
      <p:sp>
        <p:nvSpPr>
          <p:cNvPr id="9" name="Shape 7"/>
          <p:cNvSpPr/>
          <p:nvPr/>
        </p:nvSpPr>
        <p:spPr>
          <a:xfrm>
            <a:off x="4709160" y="1508760"/>
            <a:ext cx="3749040" cy="3063240"/>
          </a:xfrm>
          <a:prstGeom prst="rect">
            <a:avLst/>
          </a:prstGeom>
          <a:solidFill>
            <a:srgbClr val="FFFFFF"/>
          </a:solidFill>
          <a:ln/>
          <a:effectLst>
            <a:outerShdw sx="100000" sy="100000" kx="0" ky="0" algn="bl" rotWithShape="0" blurRad="101600" dist="38100" dir="8100000">
              <a:srgbClr val="000000">
                <a:alpha val="25000"/>
              </a:srgbClr>
            </a:outerShdw>
          </a:effectLst>
        </p:spPr>
      </p:sp>
      <p:sp>
        <p:nvSpPr>
          <p:cNvPr id="10" name="Text 8"/>
          <p:cNvSpPr/>
          <p:nvPr/>
        </p:nvSpPr>
        <p:spPr>
          <a:xfrm>
            <a:off x="4983480" y="1828800"/>
            <a:ext cx="3200400" cy="640080"/>
          </a:xfrm>
          <a:prstGeom prst="rect">
            <a:avLst/>
          </a:prstGeom>
          <a:noFill/>
          <a:ln/>
        </p:spPr>
        <p:txBody>
          <a:bodyPr wrap="square" rtlCol="0" anchor="ctr"/>
          <a:lstStyle/>
          <a:p>
            <a:pPr algn="ctr" indent="0" marL="0">
              <a:buNone/>
            </a:pPr>
            <a:r>
              <a:rPr lang="en-US" sz="1500" b="1" dirty="0">
                <a:solidFill>
                  <a:srgbClr val="262421"/>
                </a:solidFill>
                <a:latin typeface="Microsoft YaHei" pitchFamily="34" charset="0"/>
                <a:ea typeface="Microsoft YaHei" pitchFamily="34" charset="-122"/>
                <a:cs typeface="Microsoft YaHei" pitchFamily="34" charset="-120"/>
              </a:rPr>
              <a:t>需另行承担的第三方费用</a:t>
            </a:r>
            <a:endParaRPr lang="en-US" sz="1500" dirty="0"/>
          </a:p>
        </p:txBody>
      </p:sp>
      <p:sp>
        <p:nvSpPr>
          <p:cNvPr id="11" name="Text 9"/>
          <p:cNvSpPr/>
          <p:nvPr/>
        </p:nvSpPr>
        <p:spPr>
          <a:xfrm>
            <a:off x="4983480" y="2560320"/>
            <a:ext cx="3200400" cy="1828800"/>
          </a:xfrm>
          <a:prstGeom prst="rect">
            <a:avLst/>
          </a:prstGeom>
          <a:noFill/>
          <a:ln/>
        </p:spPr>
        <p:txBody>
          <a:bodyPr wrap="square" rtlCol="0" anchor="ctr"/>
          <a:lstStyle/>
          <a:p>
            <a:pPr algn="l" indent="0" marL="0">
              <a:buNone/>
            </a:pPr>
            <a:r>
              <a:rPr lang="en-US" sz="1200" dirty="0">
                <a:solidFill>
                  <a:srgbClr val="6B6560"/>
                </a:solidFill>
                <a:latin typeface="Microsoft YaHei" pitchFamily="34" charset="0"/>
                <a:ea typeface="Microsoft YaHei" pitchFamily="34" charset="-122"/>
                <a:cs typeface="Microsoft YaHei" pitchFamily="34" charset="-120"/>
              </a:rPr>
              <a:t>上述费用不包含申请费、研究论文发表费、考试费及其他第三方支出。</a:t>
            </a:r>
            <a:endParaRPr lang="en-US" sz="1200" dirty="0"/>
          </a:p>
          <a:p>
            <a:pPr algn="l" indent="0" marL="0">
              <a:buNone/>
            </a:pPr>
            <a:endParaRPr lang="en-US" sz="1200" dirty="0"/>
          </a:p>
          <a:p>
            <a:pPr algn="l" indent="0" marL="0">
              <a:buNone/>
            </a:pPr>
            <a:r>
              <a:rPr lang="en-US" sz="1200" dirty="0">
                <a:solidFill>
                  <a:srgbClr val="6B6560"/>
                </a:solidFill>
                <a:latin typeface="Microsoft YaHei" pitchFamily="34" charset="0"/>
                <a:ea typeface="Microsoft YaHei" pitchFamily="34" charset="-122"/>
                <a:cs typeface="Microsoft YaHei" pitchFamily="34" charset="-120"/>
              </a:rPr>
              <a:t>在编制完整的申请预算时，这些费用应单独进行预估。</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E2C2A"/>
        </a:solidFill>
      </p:bgPr>
    </p:bg>
    <p:spTree>
      <p:nvGrpSpPr>
        <p:cNvPr id="1" name=""/>
        <p:cNvGrpSpPr/>
        <p:nvPr/>
      </p:nvGrpSpPr>
      <p:grpSpPr>
        <a:xfrm>
          <a:off x="0" y="0"/>
          <a:ext cx="0" cy="0"/>
          <a:chOff x="0" y="0"/>
          <a:chExt cx="0" cy="0"/>
        </a:xfrm>
      </p:grpSpPr>
      <p:sp>
        <p:nvSpPr>
          <p:cNvPr id="2" name="Shape 0"/>
          <p:cNvSpPr/>
          <p:nvPr/>
        </p:nvSpPr>
        <p:spPr>
          <a:xfrm>
            <a:off x="0" y="137160"/>
            <a:ext cx="45720" cy="4937760"/>
          </a:xfrm>
          <a:prstGeom prst="rect">
            <a:avLst/>
          </a:prstGeom>
          <a:solidFill>
            <a:srgbClr val="D8AF71"/>
          </a:solidFill>
          <a:ln/>
        </p:spPr>
      </p:sp>
      <p:sp>
        <p:nvSpPr>
          <p:cNvPr id="3" name="Text 1"/>
          <p:cNvSpPr/>
          <p:nvPr/>
        </p:nvSpPr>
        <p:spPr>
          <a:xfrm>
            <a:off x="457200" y="1920240"/>
            <a:ext cx="8229600" cy="914400"/>
          </a:xfrm>
          <a:prstGeom prst="rect">
            <a:avLst/>
          </a:prstGeom>
          <a:noFill/>
          <a:ln/>
        </p:spPr>
        <p:txBody>
          <a:bodyPr wrap="square" rtlCol="0" anchor="ctr"/>
          <a:lstStyle/>
          <a:p>
            <a:pPr algn="ctr" indent="0" marL="0">
              <a:buNone/>
            </a:pPr>
            <a:r>
              <a:rPr lang="en-US" sz="5400" b="1" dirty="0">
                <a:solidFill>
                  <a:srgbClr val="D8AF71"/>
                </a:solidFill>
                <a:latin typeface="Microsoft YaHei" pitchFamily="34" charset="0"/>
                <a:ea typeface="Microsoft YaHei" pitchFamily="34" charset="-122"/>
                <a:cs typeface="Microsoft YaHei" pitchFamily="34" charset="-120"/>
              </a:rPr>
              <a:t>谢谢</a:t>
            </a:r>
            <a:endParaRPr lang="en-US" sz="5400" dirty="0"/>
          </a:p>
        </p:txBody>
      </p:sp>
      <p:sp>
        <p:nvSpPr>
          <p:cNvPr id="4" name="Shape 2"/>
          <p:cNvSpPr/>
          <p:nvPr/>
        </p:nvSpPr>
        <p:spPr>
          <a:xfrm>
            <a:off x="3977640" y="3063240"/>
            <a:ext cx="201168" cy="201168"/>
          </a:xfrm>
          <a:prstGeom prst="oval">
            <a:avLst/>
          </a:prstGeom>
          <a:solidFill>
            <a:srgbClr val="D8AF71"/>
          </a:solidFill>
          <a:ln/>
        </p:spPr>
      </p:sp>
      <p:sp>
        <p:nvSpPr>
          <p:cNvPr id="5" name="Shape 3"/>
          <p:cNvSpPr/>
          <p:nvPr/>
        </p:nvSpPr>
        <p:spPr>
          <a:xfrm>
            <a:off x="4983480" y="3063240"/>
            <a:ext cx="201168" cy="201168"/>
          </a:xfrm>
          <a:prstGeom prst="oval">
            <a:avLst/>
          </a:prstGeom>
          <a:solidFill>
            <a:srgbClr val="D8AF71"/>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从背景画像到全额资助博士录取</dc:title>
  <dc:subject>PptxGenJS Presentation</dc:subject>
  <dc:creator>JYEdu</dc:creator>
  <cp:lastModifiedBy>JYEdu</cp:lastModifiedBy>
  <cp:revision>1</cp:revision>
  <dcterms:created xsi:type="dcterms:W3CDTF">2026-08-30T01:34:01Z</dcterms:created>
  <dcterms:modified xsi:type="dcterms:W3CDTF">2026-08-30T01:34:01Z</dcterms:modified>
</cp:coreProperties>
</file>