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858000" cy="685800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840480"/>
            <a:ext cx="5943600" cy="5943600"/>
          </a:xfrm>
          <a:prstGeom prst="ellipse">
            <a:avLst/>
          </a:prstGeom>
          <a:solidFill>
            <a:srgbClr val="7C8C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0"/>
            <a:ext cx="0" cy="502920"/>
          </a:xfrm>
          <a:prstGeom prst="line">
            <a:avLst/>
          </a:prstGeom>
          <a:noFill/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5669280"/>
            <a:ext cx="0" cy="502920"/>
          </a:xfrm>
          <a:prstGeom prst="line">
            <a:avLst/>
          </a:prstGeom>
          <a:noFill/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" y="5669280"/>
            <a:ext cx="0" cy="502920"/>
          </a:xfrm>
          <a:prstGeom prst="line">
            <a:avLst/>
          </a:prstGeom>
          <a:noFill/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5669280"/>
            <a:ext cx="0" cy="502920"/>
          </a:xfrm>
          <a:prstGeom prst="line">
            <a:avLst/>
          </a:prstGeom>
          <a:noFill/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5669280"/>
            <a:ext cx="0" cy="502920"/>
          </a:xfrm>
          <a:prstGeom prst="line">
            <a:avLst/>
          </a:prstGeom>
          <a:noFill/>
          <a:ln w="1270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JYTech</a:t>
            </a:r>
            <a:pPr indent="0" marL="0">
              <a:buNone/>
            </a:pPr>
            <a:r>
              <a:rPr lang="en-US" sz="1300" b="1" spc="200" kern="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旗下教育服务  ·  招商合作手册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</a:t>
            </a:r>
            <a:pPr indent="0" marL="0">
              <a:buNone/>
            </a:pPr>
            <a:r>
              <a:rPr lang="en-US" sz="8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pPr indent="0" marL="0">
              <a:buNone/>
            </a:pPr>
            <a:r>
              <a:rPr lang="en-US" sz="8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88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杰圆教育 · 就业 · 留学 · 职场培训 一站式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3886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三大服务方向 · 背靠企业内容资源 · AI 全程赋能 —— 与合作伙伴共建教育与就业网络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709160"/>
            <a:ext cx="1197864" cy="457200"/>
          </a:xfrm>
          <a:prstGeom prst="roundRect">
            <a:avLst>
              <a:gd name="adj" fmla="val 16000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0916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求职就业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03704" y="4709160"/>
            <a:ext cx="1197864" cy="457200"/>
          </a:xfrm>
          <a:prstGeom prst="roundRect">
            <a:avLst>
              <a:gd name="adj" fmla="val 16000"/>
            </a:avLst>
          </a:prstGeom>
          <a:solidFill>
            <a:srgbClr val="7C8CFF">
              <a:alpha val="14000"/>
            </a:srgbClr>
          </a:solidFill>
          <a:ln w="12700">
            <a:solidFill>
              <a:srgbClr val="7C8C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3704" y="470916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留学服务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30168" y="4709160"/>
            <a:ext cx="1197864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0168" y="470916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职场培训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 Tech LLC · Operating in the San Francisco Bay Area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一页读懂 JYEdu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JYEdu 是 JYTech 旗下的教育服务板块 —— 专注帮学生找到工作、走向世界、在职场持续成长，背靠真实企业内容资源。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496312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632375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2316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04672" y="31729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大服务方向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4838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求职 · 留学 · 职场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02152" y="224028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58184" y="2496312"/>
            <a:ext cx="566928" cy="566928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247" y="263237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62272" y="242316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直连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3758184" y="31729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企业岗位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758184" y="34838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真实内推与合作资源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55664" y="224028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711696" y="2496312"/>
            <a:ext cx="566928" cy="56692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759" y="263237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15784" y="242316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2" name="Text 17"/>
          <p:cNvSpPr/>
          <p:nvPr/>
        </p:nvSpPr>
        <p:spPr>
          <a:xfrm>
            <a:off x="6711696" y="31729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711696" y="34838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 / 英 双语服务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409176" y="2240280"/>
            <a:ext cx="2670048" cy="1600200"/>
          </a:xfrm>
          <a:prstGeom prst="roundRect">
            <a:avLst>
              <a:gd name="adj" fmla="val 5143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665208" y="2496312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271" y="2632375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369296" y="242316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800" dirty="0"/>
          </a:p>
        </p:txBody>
      </p:sp>
      <p:sp>
        <p:nvSpPr>
          <p:cNvPr id="28" name="Text 22"/>
          <p:cNvSpPr/>
          <p:nvPr/>
        </p:nvSpPr>
        <p:spPr>
          <a:xfrm>
            <a:off x="9665208" y="31729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全程赋能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665208" y="348386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导师 + 内容持续更新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48640" y="4160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566514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508760" y="44714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就业与升学闭环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82296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不止上课 —— 对接岗位、内推与录取，为结果负责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4370832" y="4160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645152" y="443484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6826" y="4566514"/>
            <a:ext cx="285293" cy="28529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30952" y="44714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背靠企业资源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4645152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真实企业岗位与合作内容，让培训与就业直接打通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8193024" y="4160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467344" y="443484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9018" y="4566514"/>
            <a:ext cx="285293" cy="28529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153144" y="44714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真人导师</a:t>
            </a:r>
            <a:endParaRPr lang="en-US" sz="1700" dirty="0"/>
          </a:p>
        </p:txBody>
      </p:sp>
      <p:sp>
        <p:nvSpPr>
          <p:cNvPr id="44" name="Text 35"/>
          <p:cNvSpPr/>
          <p:nvPr/>
        </p:nvSpPr>
        <p:spPr>
          <a:xfrm>
            <a:off x="8467344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随问随答 + 真人顾问陪跑，岗位与内容持续更新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7C8C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为什么是现在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学生就业、出国升学、职场再培训的需求同时高涨，但优质、能对结果负责、又有企业资源的服务方稀缺。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9554" y="2331720"/>
            <a:ext cx="3564331" cy="1005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697480"/>
            <a:ext cx="777240" cy="7772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884018"/>
            <a:ext cx="404165" cy="4041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学生就业更难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岗位竞争加剧、信息不对称，学生急需求职实战训练与真实内推资源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70832" y="233172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1746" y="2331720"/>
            <a:ext cx="3564331" cy="100584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690872" y="2697480"/>
            <a:ext cx="777240" cy="77724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884018"/>
            <a:ext cx="404165" cy="4041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0872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留学需求持续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690872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出国深造仍是刚需，但选校与申请流程复杂、门槛高，需要专业陪跑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193024" y="233172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93938" y="2331720"/>
            <a:ext cx="3564331" cy="1005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Shape 16"/>
          <p:cNvSpPr/>
          <p:nvPr/>
        </p:nvSpPr>
        <p:spPr>
          <a:xfrm>
            <a:off x="8513064" y="2697480"/>
            <a:ext cx="777240" cy="77724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602" y="2884018"/>
            <a:ext cx="404165" cy="4041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13064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重塑职场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513064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岗位技能被 AI 重构，职场人必须持续再培训、学会在本行用 AI 提效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的机会：用企业资源 + 可复制底座，把「学 → 练 → 就业 / 升学」做成一套能规模化交付的闭环服务。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JYEdu 与别人不一样的地方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0" cy="4297680"/>
          </a:xfrm>
          <a:prstGeom prst="roundRect">
            <a:avLst>
              <a:gd name="adj" fmla="val 1915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100584" cy="4297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我们的主张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977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不止是上课。
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我们对结果负责 ——
</a:t>
            </a:r>
            <a:endParaRPr lang="en-US" sz="2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帮你拿到 offer 和录取。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背靠真实企业内容资源，把「学 → 练 → 就业 / 升学」打通成一条闭环。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40680" y="1737360"/>
            <a:ext cx="6172200" cy="987552"/>
          </a:xfrm>
          <a:prstGeom prst="roundRect">
            <a:avLst>
              <a:gd name="adj" fmla="val 8333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96712" y="1956816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8386" y="2088490"/>
            <a:ext cx="285293" cy="28529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0" y="18836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就业导向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以拿到岗位 / 录取为目标，不停在「发个证书」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40680" y="2834640"/>
            <a:ext cx="6172200" cy="987552"/>
          </a:xfrm>
          <a:prstGeom prst="roundRect">
            <a:avLst>
              <a:gd name="adj" fmla="val 8333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96712" y="3054096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386" y="3185770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0" y="2980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企业资源直连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0080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真实企业岗位、内推与合作内容，直接喂给学员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40680" y="3931920"/>
            <a:ext cx="6172200" cy="987552"/>
          </a:xfrm>
          <a:prstGeom prst="roundRect">
            <a:avLst>
              <a:gd name="adj" fmla="val 8333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96712" y="4151376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86" y="4283050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0" y="4078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真人导师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0080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导师随问随答，真人顾问一对一陪跑到底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40680" y="5029200"/>
            <a:ext cx="6172200" cy="987552"/>
          </a:xfrm>
          <a:prstGeom prst="roundRect">
            <a:avLst>
              <a:gd name="adj" fmla="val 8333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696712" y="5248656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386" y="5380330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0" y="51755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双语跨境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400800" y="5532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中英双语服务，覆盖国内求职与海外升学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三大服务方向 · 一个教育矩阵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面向不同人群的三条服务线，共享同一套企业资源、内容方法论与技术底座，横向可继续扩张。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39312" cy="3931920"/>
          </a:xfrm>
          <a:prstGeom prst="roundRect">
            <a:avLst>
              <a:gd name="adj" fmla="val 2261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9554" y="2103120"/>
            <a:ext cx="3637483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468880"/>
            <a:ext cx="731520" cy="73152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64444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4871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求职就业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691640" y="290779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帮学生找到工作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35204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面向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37764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高校学生 / 应届生 / 求职者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437083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462686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岗位匹配 · 简历 · 面试 · 校招/实习内推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52212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资源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547725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背靠真实企业岗位与合作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407408" y="2103120"/>
            <a:ext cx="3639312" cy="3931920"/>
          </a:xfrm>
          <a:prstGeom prst="roundRect">
            <a:avLst>
              <a:gd name="adj" fmla="val 2261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08322" y="2103120"/>
            <a:ext cx="3637483" cy="118872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0016" y="2468880"/>
            <a:ext cx="731520" cy="73152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81" y="2644445"/>
            <a:ext cx="380390" cy="38039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50408" y="24871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留学服务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5550408" y="290779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一站式出国升学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727448" y="35204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面向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727448" y="37764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计划出国深造的学生与家庭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727448" y="437083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727448" y="462686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选校 · 文书 · 语言与背景 · 签证行前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727448" y="52212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方向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27448" y="547725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 / 英 / 澳 / 港新 / 加 等目的地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266176" y="2103120"/>
            <a:ext cx="3639312" cy="3931920"/>
          </a:xfrm>
          <a:prstGeom prst="roundRect">
            <a:avLst>
              <a:gd name="adj" fmla="val 2261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267090" y="2103120"/>
            <a:ext cx="3637483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28"/>
          <p:cNvSpPr/>
          <p:nvPr/>
        </p:nvSpPr>
        <p:spPr>
          <a:xfrm>
            <a:off x="8558784" y="2468880"/>
            <a:ext cx="731520" cy="73152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49" y="2644445"/>
            <a:ext cx="380390" cy="38039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409176" y="248716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职场培训</a:t>
            </a:r>
            <a:endParaRPr lang="en-US" sz="2100" dirty="0"/>
          </a:p>
        </p:txBody>
      </p:sp>
      <p:sp>
        <p:nvSpPr>
          <p:cNvPr id="35" name="Text 30"/>
          <p:cNvSpPr/>
          <p:nvPr/>
        </p:nvSpPr>
        <p:spPr>
          <a:xfrm>
            <a:off x="9409176" y="290779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技能 + AI 提效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586216" y="35204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面向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586216" y="37764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职场人 / 转型升级 / 企业团队</a:t>
            </a:r>
            <a:endParaRPr lang="en-US" sz="1250" dirty="0"/>
          </a:p>
        </p:txBody>
      </p:sp>
      <p:sp>
        <p:nvSpPr>
          <p:cNvPr id="38" name="Text 33"/>
          <p:cNvSpPr/>
          <p:nvPr/>
        </p:nvSpPr>
        <p:spPr>
          <a:xfrm>
            <a:off x="8586216" y="437083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586216" y="462686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职场硬技能 · 各行业如何用 AI · 内训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8586216" y="522122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形式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586216" y="547725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个人课程 + 企业定制内训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01 · JOBS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求职就业 —— 帮学生真正找到工作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从简历到 offer 的全流程陪跑，背靠合作企业的真实岗位与内推资源。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386584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956" y="2513868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岗位匹配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按专业与意向精准推荐岗位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2386584"/>
            <a:ext cx="530352" cy="530352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48" y="2513868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简历优化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26864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顾问双重打磨简历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93024" y="2148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386584"/>
            <a:ext cx="530352" cy="530352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340" y="2513868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25712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面试辅导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49056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模拟面试与话术训练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5844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3822192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56" y="3949476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校招 / 实习对接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04672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对接真实校招与实习机会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70832" y="35844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26864" y="3822192"/>
            <a:ext cx="530352" cy="530352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148" y="3949476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0352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企业内推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4626864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合作企业内推直达用人方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93024" y="35844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49056" y="3822192"/>
            <a:ext cx="530352" cy="530352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340" y="3949476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25712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就业行情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8449056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行业与地区就业数据参考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E1424"/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77240" y="5724144"/>
            <a:ext cx="457200" cy="45720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833872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371600" y="56235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加持  </a:t>
            </a:r>
            <a:pPr indent="0" marL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简历改写 + 模拟面试 + 岗位智能匹配，把命中率与效率一起拉高。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7C8C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02 · STUDY ABROAD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留学服务 —— 一站式出国升学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从选校到行前的全流程服务，覆盖主流留学目的地与申请层次。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663440" cy="3886200"/>
          </a:xfrm>
          <a:prstGeom prst="roundRect">
            <a:avLst>
              <a:gd name="adj" fmla="val 2118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100584" cy="3886200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服务覆盖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457200" cy="45720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9008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898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主要目的地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4290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美国、英国、澳洲、香港 / 新加坡、加拿大 等主流地区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45902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4498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申请层次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68680" y="50292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本科 / 硕士 / 博士，含语言项目与交换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53212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服务流程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532120" y="2606040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1B2438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32120" y="2606040"/>
            <a:ext cx="82296" cy="621792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20" name="Shape 16"/>
          <p:cNvSpPr/>
          <p:nvPr/>
        </p:nvSpPr>
        <p:spPr>
          <a:xfrm>
            <a:off x="5788152" y="2761488"/>
            <a:ext cx="310896" cy="310896"/>
          </a:xfrm>
          <a:prstGeom prst="ellipse">
            <a:avLst/>
          </a:prstGeom>
          <a:solidFill>
            <a:srgbClr val="7C8CFF">
              <a:alpha val="20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88152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63640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选校规划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263640" y="29535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定位与选校，量身匹配院校与专业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532120" y="3328416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788152" y="3483864"/>
            <a:ext cx="310896" cy="310896"/>
          </a:xfrm>
          <a:prstGeom prst="ellipse">
            <a:avLst/>
          </a:prstGeom>
          <a:solidFill>
            <a:srgbClr val="7C8CFF">
              <a:alpha val="20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88152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2636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申请文书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263640" y="36758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个人陈述 / 推荐信 / 简历打磨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532120" y="4050792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788152" y="4206240"/>
            <a:ext cx="310896" cy="310896"/>
          </a:xfrm>
          <a:prstGeom prst="ellipse">
            <a:avLst/>
          </a:prstGeom>
          <a:solidFill>
            <a:srgbClr val="7C8CFF">
              <a:alpha val="20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788152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263640" y="4123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语言与背景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6263640" y="439826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语言备考 + 科研 / 实习背景提升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532120" y="4773168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788152" y="4928616"/>
            <a:ext cx="310896" cy="310896"/>
          </a:xfrm>
          <a:prstGeom prst="ellipse">
            <a:avLst/>
          </a:prstGeom>
          <a:solidFill>
            <a:srgbClr val="7C8CFF">
              <a:alpha val="20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88152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263640" y="4846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递交与跟进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6263640" y="51206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网申递交、材料与进度全程跟进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532120" y="5495544"/>
            <a:ext cx="6080760" cy="621792"/>
          </a:xfrm>
          <a:prstGeom prst="roundRect">
            <a:avLst>
              <a:gd name="adj" fmla="val 13235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5788152" y="5650992"/>
            <a:ext cx="310896" cy="310896"/>
          </a:xfrm>
          <a:prstGeom prst="ellipse">
            <a:avLst/>
          </a:prstGeom>
          <a:solidFill>
            <a:srgbClr val="7C8CFF">
              <a:alpha val="20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788152" y="5650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6263640" y="5568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签证与行前</a:t>
            </a:r>
            <a:endParaRPr lang="en-US" sz="1500" dirty="0"/>
          </a:p>
        </p:txBody>
      </p:sp>
      <p:sp>
        <p:nvSpPr>
          <p:cNvPr id="43" name="Text 39"/>
          <p:cNvSpPr/>
          <p:nvPr/>
        </p:nvSpPr>
        <p:spPr>
          <a:xfrm>
            <a:off x="6263640" y="584301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签证办理、行前与落地指导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03 · TRAINING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职场培训 —— 技能 + AI 提效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把职场硬技能与「各行业如何用 AI」结合：个人可学，企业可定制内训。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39312" cy="3794760"/>
          </a:xfrm>
          <a:prstGeom prst="roundRect">
            <a:avLst>
              <a:gd name="adj" fmla="val 2261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9554" y="2194560"/>
            <a:ext cx="3637483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560320"/>
            <a:ext cx="658368" cy="65836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2718328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5603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职场硬技能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3429000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/ 办公 / 表达提效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汇报与项目管理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跨部门协作 SOP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职业沟通与晋升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07408" y="2194560"/>
            <a:ext cx="3639312" cy="3794760"/>
          </a:xfrm>
          <a:prstGeom prst="roundRect">
            <a:avLst>
              <a:gd name="adj" fmla="val 2261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08322" y="2194560"/>
            <a:ext cx="3637483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00016" y="2560320"/>
            <a:ext cx="658368" cy="65836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024" y="2718328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04688" y="25603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各行业用 AI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773168" y="3429000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行业如何用 AI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可照做用例与工具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提效工作流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合规与边界红线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266176" y="2194560"/>
            <a:ext cx="3639312" cy="3794760"/>
          </a:xfrm>
          <a:prstGeom prst="roundRect">
            <a:avLst>
              <a:gd name="adj" fmla="val 2261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7090" y="2194560"/>
            <a:ext cx="3637483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Shape 16"/>
          <p:cNvSpPr/>
          <p:nvPr/>
        </p:nvSpPr>
        <p:spPr>
          <a:xfrm>
            <a:off x="8558784" y="2560320"/>
            <a:ext cx="658368" cy="65836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792" y="2718328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63456" y="2560320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企业内训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631936" y="3429000"/>
            <a:ext cx="29535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按岗位定制课程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内训 + 陪跑落地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 AI 能力建设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效果评估与复盘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7C8C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核心壁垒：企业资源 + 可复制底座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别人只做培训，我们既背靠企业内容资源、又有一套可复制的技术底座 —— 两者兼备才是壁垒。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386584"/>
            <a:ext cx="530352" cy="530352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956" y="2513868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企业岗位资源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合作企业的真实岗位与内推渠道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2386584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48" y="2513868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企业合作内容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26864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来自企业的一手案例与培训内容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93024" y="2148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2386584"/>
            <a:ext cx="530352" cy="530352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340" y="2513868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25712" y="2350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就业 / 升学闭环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49056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学习直连岗位与录取，对结果负责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5844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4672" y="3822192"/>
            <a:ext cx="530352" cy="530352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56" y="3949476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81328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统一技术底座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04672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登录门 + 内容站 + AI 导师，一次建处处复用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70832" y="35844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26864" y="3822192"/>
            <a:ext cx="530352" cy="530352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148" y="3949476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0352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真人导师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4626864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随问随答 + 真人顾问一对一陪跑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93024" y="3584448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49056" y="3822192"/>
            <a:ext cx="530352" cy="530352"/>
          </a:xfrm>
          <a:prstGeom prst="ellipse">
            <a:avLst/>
          </a:prstGeom>
          <a:solidFill>
            <a:srgbClr val="F472B6">
              <a:alpha val="18000"/>
            </a:srgbClr>
          </a:solidFill>
          <a:ln w="12700">
            <a:solidFill>
              <a:srgbClr val="F472B6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6340" y="3949476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25712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内容持续更新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8449056" y="4270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岗位与行业信息周更 / 日更，持续新鲜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培训机构难复制：</a:t>
            </a:r>
            <a:pPr indent="0" marL="0">
              <a:buNone/>
            </a:pPr>
            <a:r>
              <a:rPr lang="en-US" sz="1150" i="1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既要企业资源、又要技术与 AI 能力，JYEdu 两者兼备。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FBBF2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赋能 · 内容自己生长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岗位信息、行业动态与课程内容由 AI 和自动化持续供血，越跑越新，运营人力却不随内容量线性增长。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0180" y="2834640"/>
            <a:ext cx="822960" cy="82296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690" y="303215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日更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4672" y="4279392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抓取行业动态与新岗位 / 新工具信息，去重成简讯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694176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24688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66260" y="2834640"/>
            <a:ext cx="822960" cy="82296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770" y="30321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0332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65760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周更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3730752" y="4279392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跟踪各行业 AI 工具与就业趋势，深化课程内容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3694176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0" y="24688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292340" y="2834640"/>
            <a:ext cx="822960" cy="82296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850" y="303215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2940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58368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导师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6656832" y="4279392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把沉淀的内容变成随问随答，覆盖长尾问题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3694176"/>
            <a:ext cx="274320" cy="274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326880" y="246888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218420" y="2834640"/>
            <a:ext cx="822960" cy="82296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930" y="3032150"/>
            <a:ext cx="427939" cy="42793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555480" y="2697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9509760" y="37947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学员反哺</a:t>
            </a:r>
            <a:endParaRPr lang="en-US" sz="1900" dirty="0"/>
          </a:p>
        </p:txBody>
      </p:sp>
      <p:sp>
        <p:nvSpPr>
          <p:cNvPr id="32" name="Text 23"/>
          <p:cNvSpPr/>
          <p:nvPr/>
        </p:nvSpPr>
        <p:spPr>
          <a:xfrm>
            <a:off x="9582912" y="4279392"/>
            <a:ext cx="20939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真实提问与求职反馈，反向指引下一轮更新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结果：</a:t>
            </a:r>
            <a:pPr indent="0" marL="0">
              <a:buNone/>
            </a:pPr>
            <a:r>
              <a:rPr lang="en-US" sz="1150" i="1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课程与岗位信息始终「当前最新」，规模化交付时边际成本持续走低 —— 这是可扩张的关键。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怎么赚钱 · 收入结构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三大服务方向各自变现，叠加企业与渠道合作；对合作伙伴开放清晰的分成与共建空间。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9554" y="2286000"/>
            <a:ext cx="2668219" cy="1005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499616" y="2651760"/>
            <a:ext cx="768096" cy="768096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959" y="2836103"/>
            <a:ext cx="399410" cy="3994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5661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求职就业服务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4672" y="4069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求职陪跑、内推与就业服务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02152" y="22860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03066" y="2286000"/>
            <a:ext cx="2668219" cy="100584"/>
          </a:xfrm>
          <a:prstGeom prst="rect">
            <a:avLst/>
          </a:prstGeom>
          <a:solidFill>
            <a:srgbClr val="7C8C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453128" y="2651760"/>
            <a:ext cx="768096" cy="768096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471" y="2836103"/>
            <a:ext cx="399410" cy="3994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35661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留学申请服务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758184" y="4069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选校到行前一站式留学服务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55664" y="22860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6578" y="2286000"/>
            <a:ext cx="2668219" cy="1005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Shape 16"/>
          <p:cNvSpPr/>
          <p:nvPr/>
        </p:nvSpPr>
        <p:spPr>
          <a:xfrm>
            <a:off x="7406640" y="2651760"/>
            <a:ext cx="768096" cy="768096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983" y="2836103"/>
            <a:ext cx="399410" cy="3994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38544" y="35661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职场培训 / 内训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711696" y="4069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个人课程订阅 + 企业定制内训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9409176" y="2286000"/>
            <a:ext cx="2670048" cy="2788920"/>
          </a:xfrm>
          <a:prstGeom prst="roundRect">
            <a:avLst>
              <a:gd name="adj" fmla="val 3082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410090" y="2286000"/>
            <a:ext cx="2668219" cy="1005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Shape 21"/>
          <p:cNvSpPr/>
          <p:nvPr/>
        </p:nvSpPr>
        <p:spPr>
          <a:xfrm>
            <a:off x="10360152" y="2651760"/>
            <a:ext cx="768096" cy="768096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495" y="2836103"/>
            <a:ext cx="399410" cy="39941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592056" y="35661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渠道合作分成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665208" y="40690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区域合伙人 / 渠道招生分成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E1424"/>
          </a:solidFill>
          <a:ln w="12700">
            <a:solidFill>
              <a:srgbClr val="2A355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7240" y="5532120"/>
            <a:ext cx="502920" cy="50292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652821"/>
            <a:ext cx="261518" cy="26151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417320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共同点  </a:t>
            </a:r>
            <a:pPr indent="0" marL="0">
              <a:buNone/>
            </a:pPr>
            <a:r>
              <a:rPr lang="en-US" sz="135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企业资源与可复用内容资产反复使用，规模化后毛利结构随之改善，而非恶化。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377440"/>
            <a:ext cx="6400800" cy="6400800"/>
          </a:xfrm>
          <a:prstGeom prst="ellipse">
            <a:avLst/>
          </a:prstGeom>
          <a:solidFill>
            <a:srgbClr val="FBBF24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PARTNERS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JYEdu 合作，你拿到什么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我们把品牌、内容、企业资源与技术底座打包输出，合作伙伴专注本地招生与运营，轻资产起步。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55922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3865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品牌与课程授权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统一的 JYEdu 品牌与成体系课程，直接落地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70832" y="2148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423160"/>
            <a:ext cx="566928" cy="566928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215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58384" y="23865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企业岗位资源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645152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共享合作企业岗位与内推渠道，就业有底气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93024" y="214884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7344" y="2423160"/>
            <a:ext cx="566928" cy="566928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407" y="255922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0576" y="23865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现成技术底座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67344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登录门 / 内容站 / AI 导师即开即用，无需自建团队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703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11370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36192" y="39410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内容持续供给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822960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岗位与行业内容持续更新，运营不掉队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70832" y="3703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5152" y="3977640"/>
            <a:ext cx="566928" cy="566928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215" y="4113703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58384" y="39410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双语 · 留学资源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4645152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中英服务 + 留学渠道，支持本地与跨境招生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93024" y="3703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67344" y="3977640"/>
            <a:ext cx="566928" cy="56692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3407" y="4113703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80576" y="394106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区域独家可谈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8467344" y="44805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重点区域 / 渠道可谈独家合伙，先到先得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E1424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77240" y="5724144"/>
            <a:ext cx="457200" cy="45720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833872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371600" y="56235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轻资产起步  </a:t>
            </a:r>
            <a:pPr indent="0" marL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无需自建团队与内容，先谈一块试点区域 / 渠道，跑通再扩张。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7C8C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algn="l" indent="0" marL="0">
              <a:buNone/>
            </a:pPr>
            <a:r>
              <a:rPr lang="en-US" sz="1100" b="1" spc="200" kern="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进展与路线图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PPT 里的构想 —— 内容与站点底座已经跑通，正处在从 1 到 N 的复制扩张阶段。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25400">
            <a:solidFill>
              <a:srgbClr val="2A35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92808" y="3118104"/>
            <a:ext cx="256032" cy="256032"/>
          </a:xfrm>
          <a:prstGeom prst="ellipse">
            <a:avLst/>
          </a:prstGeom>
          <a:solidFill>
            <a:srgbClr val="34D399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2423160"/>
            <a:ext cx="1554480" cy="548640"/>
          </a:xfrm>
          <a:prstGeom prst="roundRect">
            <a:avLst>
              <a:gd name="adj" fmla="val 23333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65760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00784" y="3931920"/>
            <a:ext cx="640080" cy="64008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403" y="4085539"/>
            <a:ext cx="332842" cy="3328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466344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 / 职场培训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内容与站点上线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5257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验证底座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91456" y="3118104"/>
            <a:ext cx="256032" cy="256032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42232" y="2423160"/>
            <a:ext cx="1554480" cy="548640"/>
          </a:xfrm>
          <a:prstGeom prst="roundRect">
            <a:avLst>
              <a:gd name="adj" fmla="val 23333"/>
            </a:avLst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42232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进行中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675888" y="365760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99432" y="3931920"/>
            <a:ext cx="640080" cy="64008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051" y="4085539"/>
            <a:ext cx="332842" cy="33284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858768" y="466344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赋能 + 留学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服务线搭建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858768" y="5257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资源接入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690104" y="3118104"/>
            <a:ext cx="256032" cy="256032"/>
          </a:xfrm>
          <a:prstGeom prst="ellipse">
            <a:avLst/>
          </a:prstGeom>
          <a:solidFill>
            <a:srgbClr val="7C8CFF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040880" y="2423160"/>
            <a:ext cx="1554480" cy="548640"/>
          </a:xfrm>
          <a:prstGeom prst="roundRect">
            <a:avLst>
              <a:gd name="adj" fmla="val 23333"/>
            </a:avLst>
          </a:prstGeom>
          <a:solidFill>
            <a:srgbClr val="7C8CFF">
              <a:alpha val="15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4088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6574536" y="365760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498080" y="3931920"/>
            <a:ext cx="640080" cy="64008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699" y="4085539"/>
            <a:ext cx="332842" cy="33284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57416" y="466344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三大服务矩阵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企业资源规模化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757416" y="5257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矩阵成型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10588752" y="3118104"/>
            <a:ext cx="256032" cy="256032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A0E1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939528" y="2423160"/>
            <a:ext cx="1554480" cy="548640"/>
          </a:xfrm>
          <a:prstGeom prst="roundRect">
            <a:avLst>
              <a:gd name="adj" fmla="val 23333"/>
            </a:avLst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939528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招商期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9473184" y="3657600"/>
            <a:ext cx="2487168" cy="1965960"/>
          </a:xfrm>
          <a:prstGeom prst="roundRect">
            <a:avLst>
              <a:gd name="adj" fmla="val 4186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10396728" y="3931920"/>
            <a:ext cx="640080" cy="640080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0000"/>
              </a:srgbClr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347" y="408553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56064" y="466344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区域合伙人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 / 企业共建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9656064" y="52578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从 1 到 N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JYEdu 杰圆教育</a:t>
            </a:r>
            <a:pPr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就业 · 留学 · 职场培训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657600"/>
            <a:ext cx="5943600" cy="5943600"/>
          </a:xfrm>
          <a:prstGeom prst="ellipse">
            <a:avLst/>
          </a:prstGeom>
          <a:solidFill>
            <a:srgbClr val="7C8CFF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716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让我们一起，帮更多学生
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找到工作、</a:t>
            </a:r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走向世界。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 · 留学 · 职场培训 —— 背靠企业资源，现在正是加入的时机。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429768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4572000"/>
            <a:ext cx="548640" cy="548640"/>
          </a:xfrm>
          <a:prstGeom prst="ellipse">
            <a:avLst/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234" y="47036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4553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合作洽谈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37360" y="4956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JYEdu 招商与合作团队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99432" y="429768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73752" y="4572000"/>
            <a:ext cx="548640" cy="548640"/>
          </a:xfrm>
          <a:prstGeom prst="ellipse">
            <a:avLst/>
          </a:prstGeom>
          <a:solidFill>
            <a:srgbClr val="7C8CFF">
              <a:alpha val="18000"/>
            </a:srgbClr>
          </a:solidFill>
          <a:ln w="12700">
            <a:solidFill>
              <a:srgbClr val="7C8CFF">
                <a:alpha val="6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26" y="47036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9552" y="4553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服务方向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559552" y="4956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求职 · 留学 · 职场培训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21624" y="429768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51D31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95944" y="4572000"/>
            <a:ext cx="548640" cy="548640"/>
          </a:xfrm>
          <a:prstGeom prst="ellipse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618" y="47036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81744" y="45537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主体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381744" y="4956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 Tech LLC · 旧金山湾区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7724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C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欢迎预约一次合作沟通 —— 一起把教育做成就业与升学的通路。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JY Tech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JYEdu 杰圆教育 · 招商合作手册</dc:title>
  <dc:subject>PptxGenJS Presentation</dc:subject>
  <dc:creator>JY Tech</dc:creator>
  <cp:lastModifiedBy>JY Tech</cp:lastModifiedBy>
  <cp:revision>1</cp:revision>
  <dcterms:created xsi:type="dcterms:W3CDTF">2026-08-04T10:38:55Z</dcterms:created>
  <dcterms:modified xsi:type="dcterms:W3CDTF">2026-08-04T10:38:55Z</dcterms:modified>
</cp:coreProperties>
</file>