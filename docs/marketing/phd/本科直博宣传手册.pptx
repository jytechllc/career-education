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173736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JYEDU 杰圆教育 · PHD 留学申请与奖学金规划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2331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本科直博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3520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一步到位，读美国名校全额资助博士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4343400"/>
            <a:ext cx="502920" cy="54864"/>
          </a:xfrm>
          <a:prstGeom prst="rect">
            <a:avLst/>
          </a:prstGeom>
          <a:solidFill>
            <a:srgbClr val="C9992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不用先读硕士 · 学费全免 + 生活津贴 · 不设申请季上限直到成功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一个被大多数家庭忽略的选择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多数家庭以为读博必须先读硕士——其实美国博士项目的主流入学路径，本来就是本科直接申请。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074920" cy="3794760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057400"/>
            <a:ext cx="109728" cy="3794760"/>
          </a:xfrm>
          <a:prstGeom prst="rect">
            <a:avLst/>
          </a:prstGeom>
          <a:solidFill>
            <a:srgbClr val="9C947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6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常见认知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500" dirty="0">
                <a:solidFill>
                  <a:srgbClr val="56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必须先读完硕士，才有资格申请博士</a:t>
            </a:r>
            <a:endParaRPr lang="en-US" sz="15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500" dirty="0">
                <a:solidFill>
                  <a:srgbClr val="56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留学等于一大笔学费 + 生活费支出</a:t>
            </a:r>
            <a:endParaRPr lang="en-US" sz="15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500" dirty="0">
                <a:solidFill>
                  <a:srgbClr val="56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花大价钱读的硕士，性价比说不清楚</a:t>
            </a:r>
            <a:endParaRPr lang="en-US" sz="1500" dirty="0"/>
          </a:p>
          <a:p>
            <a:pPr marL="342900" indent="-342900">
              <a:spcAft>
                <a:spcPts val="2200"/>
              </a:spcAft>
              <a:buSzPct val="100000"/>
              <a:buChar char="✗"/>
            </a:pPr>
            <a:r>
              <a:rPr lang="en-US" sz="1500" dirty="0">
                <a:solidFill>
                  <a:srgbClr val="56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读博=经济负担，普通家庭要慎重考虑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89320" y="2057400"/>
            <a:ext cx="5394960" cy="3794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5989320" y="2057400"/>
            <a:ext cx="109728" cy="3794760"/>
          </a:xfrm>
          <a:prstGeom prst="rect">
            <a:avLst/>
          </a:prstGeom>
          <a:solidFill>
            <a:srgbClr val="C9992F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377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C8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实际情况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55080" y="301752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美国博士项目普遍面向本科生直接招生</a:t>
            </a:r>
            <a:endParaRPr lang="en-US" sz="1500" dirty="0"/>
          </a:p>
          <a:p>
            <a:pPr marL="342900" indent="-342900">
              <a:spcAft>
                <a:spcPts val="22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跳过硕士，省 2–3 年时间</a:t>
            </a:r>
            <a:endParaRPr lang="en-US" sz="1500" dirty="0"/>
          </a:p>
          <a:p>
            <a:pPr marL="342900" indent="-342900">
              <a:spcAft>
                <a:spcPts val="22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博士阶段普遍「全额资助」——学费全免</a:t>
            </a:r>
            <a:endParaRPr lang="en-US" sz="1500" dirty="0"/>
          </a:p>
          <a:p>
            <a:pPr marL="342900" indent="-342900">
              <a:spcAft>
                <a:spcPts val="22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按月发放生活津贴，家庭几乎零额外负担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本科直博的四大理由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从时间、费用、认可度到经济压力，直博路径全面占优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685800" cy="685800"/>
          </a:xfrm>
          <a:prstGeom prst="ellipse">
            <a:avLst/>
          </a:prstGeom>
          <a:solidFill>
            <a:srgbClr val="EFE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14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304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省时间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67004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本科毕业直接申请、直接入学，跳过硕士阶段，通常节省 2–3 年。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2011680"/>
            <a:ext cx="53949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331720"/>
            <a:ext cx="685800" cy="685800"/>
          </a:xfrm>
          <a:prstGeom prst="ellipse">
            <a:avLst/>
          </a:prstGeom>
          <a:solidFill>
            <a:srgbClr val="EFE6D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5146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304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省费用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60920" y="267004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不用先花一笔硕士学费；博士阶段资助模式进一步降低留学门槛。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3949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480560"/>
            <a:ext cx="685800" cy="685800"/>
          </a:xfrm>
          <a:prstGeom prst="ellipse">
            <a:avLst/>
          </a:prstGeom>
          <a:solidFill>
            <a:srgbClr val="EFE6D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6634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453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更被认可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481888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美国博士学位在学术界与产业界认可度明确，科研成果构成独立履历。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160520"/>
            <a:ext cx="53949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480560"/>
            <a:ext cx="685800" cy="685800"/>
          </a:xfrm>
          <a:prstGeom prst="ellipse">
            <a:avLst/>
          </a:prstGeom>
          <a:solidFill>
            <a:srgbClr val="EFE6D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6634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453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全额资助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60920" y="481888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学费全免 + 按月生活津贴，相当于「带薪读博」，家庭几乎零额外负担。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带薪读博：一笔算得清楚的经济账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070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美国博士项目普遍实行「全额资助」（Fully-funded）培养模式，被录取即视为带薪读博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3383280" cy="3108960"/>
          </a:xfrm>
          <a:prstGeom prst="rect">
            <a:avLst/>
          </a:prstGeom>
          <a:solidFill>
            <a:srgbClr val="2C356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31720"/>
            <a:ext cx="3383280" cy="64008"/>
          </a:xfrm>
          <a:prstGeom prst="rect">
            <a:avLst/>
          </a:prstGeom>
          <a:solidFill>
            <a:srgbClr val="C9992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8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0584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由院校 / 导师科研经费 / 资助方承担，全额免除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108960"/>
          </a:xfrm>
          <a:prstGeom prst="rect">
            <a:avLst/>
          </a:prstGeom>
          <a:solidFill>
            <a:srgbClr val="2C3568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2331720"/>
            <a:ext cx="3383280" cy="64008"/>
          </a:xfrm>
          <a:prstGeom prst="rect">
            <a:avLst/>
          </a:prstGeom>
          <a:solidFill>
            <a:srgbClr val="C9992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8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月度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1772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生活津贴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以助教(TA)、助研(RA)或奖学金(Fellowship)形式按月发放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2331720"/>
            <a:ext cx="3383280" cy="3108960"/>
          </a:xfrm>
          <a:prstGeom prst="rect">
            <a:avLst/>
          </a:prstGeom>
          <a:solidFill>
            <a:srgbClr val="2C356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2331720"/>
            <a:ext cx="3383280" cy="64008"/>
          </a:xfrm>
          <a:prstGeom prst="rect">
            <a:avLst/>
          </a:prstGeom>
          <a:solidFill>
            <a:srgbClr val="C9992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8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2–3年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22960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省下的时间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跳过硕士阶段，本科直接入读博士项目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JYEdu 的申请策略：只申请、只推荐具备全额资助传统的项目与导师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服务如何陪跑：三阶段全程支持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从研究方向定位到拿到录取，每一步都有顾问团队同行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3429000" cy="9601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219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08760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明确研究方向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梳理学术背景与科研经历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定位目标院校 / 导师 / 实验室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优先筛选全额资助项目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完成差距分析（Gap Analysis）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40769" y="3378708"/>
            <a:ext cx="237744" cy="237744"/>
          </a:xfrm>
          <a:prstGeom prst="ellipse">
            <a:avLst/>
          </a:prstGeom>
          <a:solidFill>
            <a:srgbClr val="C9992F"/>
          </a:solidFill>
          <a:ln/>
        </p:spPr>
      </p:sp>
      <p:sp>
        <p:nvSpPr>
          <p:cNvPr id="11" name="Shape 8"/>
          <p:cNvSpPr/>
          <p:nvPr/>
        </p:nvSpPr>
        <p:spPr>
          <a:xfrm>
            <a:off x="4325112" y="1965960"/>
            <a:ext cx="342900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5112" y="1965960"/>
            <a:ext cx="3429000" cy="9601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22199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193792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打造竞争力档案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599432" y="31546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协助推进 / 发表研究成果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制定申请截止日节点计划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统筹标化考试与文书写作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结构化梳理申请材料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25801" y="3378708"/>
            <a:ext cx="237744" cy="237744"/>
          </a:xfrm>
          <a:prstGeom prst="ellipse">
            <a:avLst/>
          </a:prstGeom>
          <a:solidFill>
            <a:srgbClr val="C9992F"/>
          </a:solidFill>
          <a:ln/>
        </p:spPr>
      </p:sp>
      <p:sp>
        <p:nvSpPr>
          <p:cNvPr id="18" name="Shape 14"/>
          <p:cNvSpPr/>
          <p:nvPr/>
        </p:nvSpPr>
        <p:spPr>
          <a:xfrm>
            <a:off x="8010144" y="1965960"/>
            <a:ext cx="342900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10144" y="1965960"/>
            <a:ext cx="3429000" cy="9601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222199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78824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878824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全程申请支持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8284464" y="31546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个人陈述 / 定制文书打磨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推荐信策略与奖学金规划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材料审核提交、面试辅导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行前指导，直到拿到录取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-1645920"/>
            <a:ext cx="5486400" cy="5486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960120"/>
            <a:ext cx="1280160" cy="1280160"/>
          </a:xfrm>
          <a:prstGeom prst="ellipse">
            <a:avLst/>
          </a:prstGeom>
          <a:solidFill>
            <a:srgbClr val="2C3568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731520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4028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保障机制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2240280" y="13716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不设申请季数量上限，直到成功为止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822960" y="2514600"/>
            <a:ext cx="10515600" cy="1965960"/>
          </a:xfrm>
          <a:prstGeom prst="rect">
            <a:avLst/>
          </a:prstGeom>
          <a:solidFill>
            <a:srgbClr val="2C3568"/>
          </a:solidFill>
          <a:ln/>
        </p:spPr>
      </p:sp>
      <p:sp>
        <p:nvSpPr>
          <p:cNvPr id="9" name="Shape 5"/>
          <p:cNvSpPr/>
          <p:nvPr/>
        </p:nvSpPr>
        <p:spPr>
          <a:xfrm>
            <a:off x="822960" y="2514600"/>
            <a:ext cx="82296" cy="1965960"/>
          </a:xfrm>
          <a:prstGeom prst="rect">
            <a:avLst/>
          </a:prstGeom>
          <a:solidFill>
            <a:srgbClr val="C9992F"/>
          </a:solidFill>
          <a:ln/>
        </p:spPr>
      </p:sp>
      <p:sp>
        <p:nvSpPr>
          <p:cNvPr id="10" name="Text 6"/>
          <p:cNvSpPr/>
          <p:nvPr/>
        </p:nvSpPr>
        <p:spPr>
          <a:xfrm>
            <a:off x="1188720" y="269748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学生在满足配合条件的前提下，如某一申请季未能取得 Top 100 全额资助录取，JYEdu 将持续为其规划并支持后续申请季，不设申请季数量上限、不再另行收取咨询服务费，直至学生取得 Top 100 全额资助录取为止。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这套机制把家庭最大的顾虑——「钱交了，万一没申上怎么办」——转化为一个明确的服务边界：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8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目标不达成，服务不停止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谁在为孩子的申请负责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真人顾问一对一带教，全程跟进研究方向、文书与套磁进展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914400" cy="914400"/>
          </a:xfrm>
          <a:prstGeom prst="ellipse">
            <a:avLst/>
          </a:prstGeom>
          <a:solidFill>
            <a:srgbClr val="EFE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606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顾问团队学术背景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94560" y="26974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团队具备 Cornell、Stanford、UC Berkeley、UC Davis 等高校的学术与科研背景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251460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3383280" y="3977640"/>
            <a:ext cx="251460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126480" y="3977640"/>
            <a:ext cx="251460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8869680" y="3977640"/>
            <a:ext cx="251460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1577340" y="4142232"/>
            <a:ext cx="640080" cy="640080"/>
          </a:xfrm>
          <a:prstGeom prst="ellipse">
            <a:avLst/>
          </a:prstGeom>
          <a:solidFill>
            <a:srgbClr val="2C356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44" y="428853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" y="4846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Cornell University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320540" y="4142232"/>
            <a:ext cx="640080" cy="640080"/>
          </a:xfrm>
          <a:prstGeom prst="ellipse">
            <a:avLst/>
          </a:prstGeom>
          <a:solidFill>
            <a:srgbClr val="2C356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44" y="428853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20440" y="4846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University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063740" y="4142232"/>
            <a:ext cx="640080" cy="640080"/>
          </a:xfrm>
          <a:prstGeom prst="ellipse">
            <a:avLst/>
          </a:prstGeom>
          <a:solidFill>
            <a:srgbClr val="2C356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044" y="4288536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63640" y="4846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9806940" y="4142232"/>
            <a:ext cx="640080" cy="640080"/>
          </a:xfrm>
          <a:prstGeom prst="ellipse">
            <a:avLst/>
          </a:prstGeom>
          <a:solidFill>
            <a:srgbClr val="2C356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244" y="4288536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06840" y="4846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Davis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真人顾问 + 全流程一对一陪跑，而非一次性文书代写服务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173736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630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想知道孩子适不适合直博路径？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22960" y="2331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预约一对一评估，了解孩子的背景能申请到哪个层次的院校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2C356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419856"/>
            <a:ext cx="246888" cy="2468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76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邮箱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508760" y="3547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jytech202307@gmail.com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2C356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88536"/>
            <a:ext cx="246888" cy="2468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4142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 / WeChat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508760" y="4416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扫码或搜索 JYEdu 杰圆教育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22960" y="5623560"/>
            <a:ext cx="502920" cy="54864"/>
          </a:xfrm>
          <a:prstGeom prst="rect">
            <a:avLst/>
          </a:prstGeom>
          <a:solidFill>
            <a:srgbClr val="C9992F"/>
          </a:solidFill>
          <a:ln/>
        </p:spPr>
      </p:sp>
      <p:sp>
        <p:nvSpPr>
          <p:cNvPr id="14" name="Text 9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JYEdu 杰圆教育 · JY Tech LLC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本科直博：一步到位读美国名校全额资助博士</dc:title>
  <dc:subject>PptxGenJS Presentation</dc:subject>
  <dc:creator>JYEdu 杰圆教育</dc:creator>
  <cp:lastModifiedBy>JYEdu 杰圆教育</cp:lastModifiedBy>
  <cp:revision>1</cp:revision>
  <dcterms:created xsi:type="dcterms:W3CDTF">2026-08-28T02:24:19Z</dcterms:created>
  <dcterms:modified xsi:type="dcterms:W3CDTF">2026-08-28T02:24:19Z</dcterms:modified>
</cp:coreProperties>
</file>